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6" r:id="rId10"/>
    <p:sldId id="267" r:id="rId11"/>
    <p:sldId id="268" r:id="rId12"/>
    <p:sldId id="269" r:id="rId13"/>
    <p:sldId id="270" r:id="rId14"/>
    <p:sldId id="272" r:id="rId15"/>
    <p:sldId id="273" r:id="rId16"/>
    <p:sldId id="274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7BE606C-45BE-3DF0-F8CD-78F00B9BC471}">
          <p14:sldIdLst>
            <p14:sldId id="256"/>
            <p14:sldId id="257"/>
            <p14:sldId id="258"/>
            <p14:sldId id="259"/>
            <p14:sldId id="265"/>
          </p14:sldIdLst>
        </p14:section>
        <p14:section name="Data &amp; SQL" id="{48579C30-2503-722C-8D58-BCF6B84429A1}">
          <p14:sldIdLst>
            <p14:sldId id="260"/>
            <p14:sldId id="261"/>
            <p14:sldId id="262"/>
          </p14:sldIdLst>
        </p14:section>
        <p14:section name="Analysis" id="{D59A5493-3BA4-3261-08A6-5A57C1EBB5CE}">
          <p14:sldIdLst>
            <p14:sldId id="266"/>
          </p14:sldIdLst>
        </p14:section>
        <p14:section name="Dashboards" id="{AB757F4C-A4C3-CE05-BC9F-73FE2610D633}">
          <p14:sldIdLst>
            <p14:sldId id="267"/>
            <p14:sldId id="268"/>
            <p14:sldId id="269"/>
            <p14:sldId id="270"/>
          </p14:sldIdLst>
        </p14:section>
        <p14:section name="Wrap-up" id="{05AA630F-4106-77AA-66F2-F2C46933FAB6}">
          <p14:sldIdLst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6292E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06292E"/>
                </a:solidFill>
                <a:latin typeface="+mn-lt"/>
              </a:rPr>
              <a:t>Paid bills by customer category (K)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bills (K)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D72-41F4-A92F-304ABC8C8E64}"/>
              </c:ext>
            </c:extLst>
          </c:dPt>
          <c:dPt>
            <c:idx val="1"/>
            <c:invertIfNegative val="0"/>
            <c:bubble3D val="0"/>
            <c:spPr>
              <a:solidFill>
                <a:srgbClr val="FFC21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D72-41F4-A92F-304ABC8C8E64}"/>
              </c:ext>
            </c:extLst>
          </c:dPt>
          <c:dPt>
            <c:idx val="2"/>
            <c:invertIfNegative val="0"/>
            <c:bubble3D val="0"/>
            <c:spPr>
              <a:solidFill>
                <a:srgbClr val="2EC4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D72-41F4-A92F-304ABC8C8E64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6292E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Residential</c:v>
                </c:pt>
                <c:pt idx="1">
                  <c:v>Commercial</c:v>
                </c:pt>
                <c:pt idx="2">
                  <c:v>Industrial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</c:v>
                </c:pt>
                <c:pt idx="1">
                  <c:v>1</c:v>
                </c:pt>
                <c:pt idx="2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D72-41F4-A92F-304ABC8C8E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B4F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F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4F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4394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builds a 360-degree energy control centre for Tata Power using MySQL and Power 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parts: overview, objectives, tools, data model, SQL, preparation and DAX, dashboards,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facts: 16 tables, 4 dashboards, 14 plants and 5 grid zones (Ajmer, Delhi, Jamshedpur, Mumbai, Odisha).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pain points. Right: what the project sets out to deliver.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SQL design choice solves a specific data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used: MySQL for storage, Power Query for preparation, Power BI for modelling and visuals, DAX for measures, GitHub for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Dimensions describe plants, zones, substations, meters, EV stations and dates. Facts hold readings, outages, sessions, bills and 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dim_plant table from the project SQL file. Each plant has one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in SQL and Power Query, visuals in Power BI, DAX for KPI measures. DAX formulas are shown in simplified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Plant-level view: output, PLF, efficiency, availability and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 stability view: frequency, demand, supply, losses and substation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and EV view: billing, payments, smart meters and charging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view: outages, grid stress, anomalies and root causes.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Insights read directly from the dashboards. The dataset is generated for the project, so values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benefits for plant, grid and customer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on the left, ideas for future improvement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2194560" y="731520"/>
            <a:ext cx="941832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TATA POWER  ·  SMART ENERGY CONTROL 360°</a:t>
            </a:r>
            <a:endParaRPr lang="en-US" sz="10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TATA POWER  ·  SMART ENERGY CONTROL 360°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828800"/>
            <a:ext cx="11091672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6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hart" Target="../charts/chart1.xml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rd_1"/>
          <p:cNvSpPr/>
          <p:nvPr/>
        </p:nvSpPr>
        <p:spPr>
          <a:xfrm>
            <a:off x="822960" y="868680"/>
            <a:ext cx="105156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logo_icon" descr="bo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1170432"/>
            <a:ext cx="457200" cy="457200"/>
          </a:xfrm>
          <a:prstGeom prst="rect">
            <a:avLst/>
          </a:prstGeom>
        </p:spPr>
      </p:pic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2194560" y="731520"/>
            <a:ext cx="9418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Tata Power Smart Energy Control 360°</a:t>
            </a:r>
            <a:endParaRPr lang="en-US" sz="4000" dirty="0"/>
          </a:p>
        </p:txBody>
      </p:sp>
      <p:sp>
        <p:nvSpPr>
          <p:cNvPr id="5" name="text_2"/>
          <p:cNvSpPr txBox="1"/>
          <p:nvPr/>
        </p:nvSpPr>
        <p:spPr>
          <a:xfrm>
            <a:off x="2194560" y="2697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1"/>
                </a:solidFill>
              </a:rPr>
              <a:t>POWER BI  &amp;  MYSQL ANALYTICS PROJECT</a:t>
            </a:r>
            <a:endParaRPr lang="en-US" sz="1600" dirty="0"/>
          </a:p>
        </p:txBody>
      </p:sp>
      <p:sp>
        <p:nvSpPr>
          <p:cNvPr id="6" name="text_3"/>
          <p:cNvSpPr txBox="1"/>
          <p:nvPr/>
        </p:nvSpPr>
        <p:spPr>
          <a:xfrm>
            <a:off x="2194560" y="32461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bg2"/>
                </a:solidFill>
              </a:rPr>
              <a:t>Plants  ·  Grid  ·  Smart Meters  ·  EV Mobility  ·  Risk Intelligence</a:t>
            </a:r>
            <a:endParaRPr lang="en-US" sz="1800" dirty="0"/>
          </a:p>
        </p:txBody>
      </p:sp>
      <p:sp>
        <p:nvSpPr>
          <p:cNvPr id="7" name="text_4"/>
          <p:cNvSpPr txBox="1"/>
          <p:nvPr/>
        </p:nvSpPr>
        <p:spPr>
          <a:xfrm>
            <a:off x="548640" y="4572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bg1"/>
                </a:solidFill>
              </a:rPr>
              <a:t>Presented By</a:t>
            </a:r>
            <a:endParaRPr lang="en-US" sz="3000" dirty="0"/>
          </a:p>
        </p:txBody>
      </p:sp>
      <p:sp>
        <p:nvSpPr>
          <p:cNvPr id="8" name="text_5"/>
          <p:cNvSpPr txBox="1"/>
          <p:nvPr/>
        </p:nvSpPr>
        <p:spPr>
          <a:xfrm>
            <a:off x="548640" y="5120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K LAKSHMI PRIYA</a:t>
            </a:r>
            <a:endParaRPr lang="en-US" sz="2400" dirty="0"/>
          </a:p>
        </p:txBody>
      </p:sp>
      <p:sp>
        <p:nvSpPr>
          <p:cNvPr id="9" name="text_6"/>
          <p:cNvSpPr txBox="1"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AF05323408</a:t>
            </a:r>
            <a:endParaRPr lang="en-US" sz="1600" dirty="0"/>
          </a:p>
        </p:txBody>
      </p:sp>
      <p:sp>
        <p:nvSpPr>
          <p:cNvPr id="10" name="text_7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Data and Business Analytics with AI</a:t>
            </a:r>
            <a:endParaRPr lang="en-US" sz="1600" dirty="0"/>
          </a:p>
        </p:txBody>
      </p:sp>
      <p:sp>
        <p:nvSpPr>
          <p:cNvPr id="11" name="text_8"/>
          <p:cNvSpPr txBox="1"/>
          <p:nvPr/>
        </p:nvSpPr>
        <p:spPr>
          <a:xfrm>
            <a:off x="548640" y="621792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Anudip IT Foundation, Pallavaram,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Agenda</a:t>
            </a:r>
            <a:endParaRPr lang="en-US" sz="3600" dirty="0"/>
          </a:p>
        </p:txBody>
      </p:sp>
      <p:sp>
        <p:nvSpPr>
          <p:cNvPr id="3" name="card_9"/>
          <p:cNvSpPr/>
          <p:nvPr/>
        </p:nvSpPr>
        <p:spPr>
          <a:xfrm>
            <a:off x="548640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iconbg_10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con_11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51660"/>
            <a:ext cx="320040" cy="320040"/>
          </a:xfrm>
          <a:prstGeom prst="rect">
            <a:avLst/>
          </a:prstGeom>
        </p:spPr>
      </p:pic>
      <p:sp>
        <p:nvSpPr>
          <p:cNvPr id="6" name="text_12"/>
          <p:cNvSpPr txBox="1"/>
          <p:nvPr/>
        </p:nvSpPr>
        <p:spPr>
          <a:xfrm>
            <a:off x="2240280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01</a:t>
            </a:r>
            <a:endParaRPr lang="en-US" sz="3200" dirty="0"/>
          </a:p>
        </p:txBody>
      </p:sp>
      <p:sp>
        <p:nvSpPr>
          <p:cNvPr id="7" name="text_13"/>
          <p:cNvSpPr txBox="1"/>
          <p:nvPr/>
        </p:nvSpPr>
        <p:spPr>
          <a:xfrm>
            <a:off x="777240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Project Overview</a:t>
            </a:r>
            <a:endParaRPr lang="en-US" sz="1800" dirty="0"/>
          </a:p>
        </p:txBody>
      </p:sp>
      <p:sp>
        <p:nvSpPr>
          <p:cNvPr id="8" name="card_14"/>
          <p:cNvSpPr/>
          <p:nvPr/>
        </p:nvSpPr>
        <p:spPr>
          <a:xfrm>
            <a:off x="3392424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iconbg_15"/>
          <p:cNvSpPr/>
          <p:nvPr/>
        </p:nvSpPr>
        <p:spPr>
          <a:xfrm>
            <a:off x="3621024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con_16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1851660"/>
            <a:ext cx="320040" cy="320040"/>
          </a:xfrm>
          <a:prstGeom prst="rect">
            <a:avLst/>
          </a:prstGeom>
        </p:spPr>
      </p:pic>
      <p:sp>
        <p:nvSpPr>
          <p:cNvPr id="11" name="text_17"/>
          <p:cNvSpPr txBox="1"/>
          <p:nvPr/>
        </p:nvSpPr>
        <p:spPr>
          <a:xfrm>
            <a:off x="5084064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02</a:t>
            </a:r>
            <a:endParaRPr lang="en-US" sz="3200" dirty="0"/>
          </a:p>
        </p:txBody>
      </p:sp>
      <p:sp>
        <p:nvSpPr>
          <p:cNvPr id="12" name="text_18"/>
          <p:cNvSpPr txBox="1"/>
          <p:nvPr/>
        </p:nvSpPr>
        <p:spPr>
          <a:xfrm>
            <a:off x="3621024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 &amp; Objectives</a:t>
            </a:r>
            <a:endParaRPr lang="en-US" sz="1800" dirty="0"/>
          </a:p>
        </p:txBody>
      </p:sp>
      <p:sp>
        <p:nvSpPr>
          <p:cNvPr id="13" name="card_19"/>
          <p:cNvSpPr/>
          <p:nvPr/>
        </p:nvSpPr>
        <p:spPr>
          <a:xfrm>
            <a:off x="6236208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iconbg_20"/>
          <p:cNvSpPr/>
          <p:nvPr/>
        </p:nvSpPr>
        <p:spPr>
          <a:xfrm>
            <a:off x="6464808" y="169164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icon_21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4828" y="1851660"/>
            <a:ext cx="320040" cy="320040"/>
          </a:xfrm>
          <a:prstGeom prst="rect">
            <a:avLst/>
          </a:prstGeom>
        </p:spPr>
      </p:pic>
      <p:sp>
        <p:nvSpPr>
          <p:cNvPr id="16" name="text_22"/>
          <p:cNvSpPr txBox="1"/>
          <p:nvPr/>
        </p:nvSpPr>
        <p:spPr>
          <a:xfrm>
            <a:off x="7927848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03</a:t>
            </a:r>
            <a:endParaRPr lang="en-US" sz="3200" dirty="0"/>
          </a:p>
        </p:txBody>
      </p:sp>
      <p:sp>
        <p:nvSpPr>
          <p:cNvPr id="17" name="text_23"/>
          <p:cNvSpPr txBox="1"/>
          <p:nvPr/>
        </p:nvSpPr>
        <p:spPr>
          <a:xfrm>
            <a:off x="6464808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Analytics Stack</a:t>
            </a:r>
            <a:endParaRPr lang="en-US" sz="1800" dirty="0"/>
          </a:p>
        </p:txBody>
      </p:sp>
      <p:sp>
        <p:nvSpPr>
          <p:cNvPr id="18" name="card_24"/>
          <p:cNvSpPr/>
          <p:nvPr/>
        </p:nvSpPr>
        <p:spPr>
          <a:xfrm>
            <a:off x="9079992" y="146304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iconbg_25"/>
          <p:cNvSpPr/>
          <p:nvPr/>
        </p:nvSpPr>
        <p:spPr>
          <a:xfrm>
            <a:off x="9308592" y="169164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con_26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8612" y="1851660"/>
            <a:ext cx="320040" cy="320040"/>
          </a:xfrm>
          <a:prstGeom prst="rect">
            <a:avLst/>
          </a:prstGeom>
        </p:spPr>
      </p:pic>
      <p:sp>
        <p:nvSpPr>
          <p:cNvPr id="21" name="text_27"/>
          <p:cNvSpPr txBox="1"/>
          <p:nvPr/>
        </p:nvSpPr>
        <p:spPr>
          <a:xfrm>
            <a:off x="10771632" y="1691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04</a:t>
            </a:r>
            <a:endParaRPr lang="en-US" sz="3200" dirty="0"/>
          </a:p>
        </p:txBody>
      </p:sp>
      <p:sp>
        <p:nvSpPr>
          <p:cNvPr id="22" name="text_28"/>
          <p:cNvSpPr txBox="1"/>
          <p:nvPr/>
        </p:nvSpPr>
        <p:spPr>
          <a:xfrm>
            <a:off x="9308592" y="26060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Model</a:t>
            </a:r>
            <a:endParaRPr lang="en-US" sz="1800" dirty="0"/>
          </a:p>
        </p:txBody>
      </p:sp>
      <p:sp>
        <p:nvSpPr>
          <p:cNvPr id="23" name="card_29"/>
          <p:cNvSpPr/>
          <p:nvPr/>
        </p:nvSpPr>
        <p:spPr>
          <a:xfrm>
            <a:off x="548640" y="37947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iconbg_30"/>
          <p:cNvSpPr/>
          <p:nvPr/>
        </p:nvSpPr>
        <p:spPr>
          <a:xfrm>
            <a:off x="777240" y="40233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icon_31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4183380"/>
            <a:ext cx="320040" cy="320040"/>
          </a:xfrm>
          <a:prstGeom prst="rect">
            <a:avLst/>
          </a:prstGeom>
        </p:spPr>
      </p:pic>
      <p:sp>
        <p:nvSpPr>
          <p:cNvPr id="26" name="text_32"/>
          <p:cNvSpPr txBox="1"/>
          <p:nvPr/>
        </p:nvSpPr>
        <p:spPr>
          <a:xfrm>
            <a:off x="2240280" y="4023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05</a:t>
            </a:r>
            <a:endParaRPr lang="en-US" sz="3200" dirty="0"/>
          </a:p>
        </p:txBody>
      </p:sp>
      <p:sp>
        <p:nvSpPr>
          <p:cNvPr id="27" name="text_33"/>
          <p:cNvSpPr txBox="1"/>
          <p:nvPr/>
        </p:nvSpPr>
        <p:spPr>
          <a:xfrm>
            <a:off x="777240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SQL Code</a:t>
            </a:r>
            <a:endParaRPr lang="en-US" sz="1800" dirty="0"/>
          </a:p>
        </p:txBody>
      </p:sp>
      <p:sp>
        <p:nvSpPr>
          <p:cNvPr id="28" name="card_34"/>
          <p:cNvSpPr/>
          <p:nvPr/>
        </p:nvSpPr>
        <p:spPr>
          <a:xfrm>
            <a:off x="3392424" y="37947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iconbg_35"/>
          <p:cNvSpPr/>
          <p:nvPr/>
        </p:nvSpPr>
        <p:spPr>
          <a:xfrm>
            <a:off x="3621024" y="4023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0" name="icon_36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81044" y="4183380"/>
            <a:ext cx="320040" cy="320040"/>
          </a:xfrm>
          <a:prstGeom prst="rect">
            <a:avLst/>
          </a:prstGeom>
        </p:spPr>
      </p:pic>
      <p:sp>
        <p:nvSpPr>
          <p:cNvPr id="31" name="text_37"/>
          <p:cNvSpPr txBox="1"/>
          <p:nvPr/>
        </p:nvSpPr>
        <p:spPr>
          <a:xfrm>
            <a:off x="5084064" y="4023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06</a:t>
            </a:r>
            <a:endParaRPr lang="en-US" sz="3200" dirty="0"/>
          </a:p>
        </p:txBody>
      </p:sp>
      <p:sp>
        <p:nvSpPr>
          <p:cNvPr id="32" name="text_38"/>
          <p:cNvSpPr txBox="1"/>
          <p:nvPr/>
        </p:nvSpPr>
        <p:spPr>
          <a:xfrm>
            <a:off x="3621024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Cleaning, Visuals &amp; DAX</a:t>
            </a:r>
            <a:endParaRPr lang="en-US" sz="1800" dirty="0"/>
          </a:p>
        </p:txBody>
      </p:sp>
      <p:sp>
        <p:nvSpPr>
          <p:cNvPr id="33" name="card_39"/>
          <p:cNvSpPr/>
          <p:nvPr/>
        </p:nvSpPr>
        <p:spPr>
          <a:xfrm>
            <a:off x="6236208" y="37947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iconbg_40"/>
          <p:cNvSpPr/>
          <p:nvPr/>
        </p:nvSpPr>
        <p:spPr>
          <a:xfrm>
            <a:off x="6464808" y="4023360"/>
            <a:ext cx="640080" cy="6400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5" name="icon_41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4828" y="4183380"/>
            <a:ext cx="320040" cy="320040"/>
          </a:xfrm>
          <a:prstGeom prst="rect">
            <a:avLst/>
          </a:prstGeom>
        </p:spPr>
      </p:pic>
      <p:sp>
        <p:nvSpPr>
          <p:cNvPr id="36" name="text_42"/>
          <p:cNvSpPr txBox="1"/>
          <p:nvPr/>
        </p:nvSpPr>
        <p:spPr>
          <a:xfrm>
            <a:off x="7927848" y="4023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07</a:t>
            </a:r>
            <a:endParaRPr lang="en-US" sz="3200" dirty="0"/>
          </a:p>
        </p:txBody>
      </p:sp>
      <p:sp>
        <p:nvSpPr>
          <p:cNvPr id="37" name="text_43"/>
          <p:cNvSpPr txBox="1"/>
          <p:nvPr/>
        </p:nvSpPr>
        <p:spPr>
          <a:xfrm>
            <a:off x="6464808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4 Dashboards</a:t>
            </a:r>
            <a:endParaRPr lang="en-US" sz="1800" dirty="0"/>
          </a:p>
        </p:txBody>
      </p:sp>
      <p:sp>
        <p:nvSpPr>
          <p:cNvPr id="38" name="card_44"/>
          <p:cNvSpPr/>
          <p:nvPr/>
        </p:nvSpPr>
        <p:spPr>
          <a:xfrm>
            <a:off x="9079992" y="3794760"/>
            <a:ext cx="256032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iconbg_45"/>
          <p:cNvSpPr/>
          <p:nvPr/>
        </p:nvSpPr>
        <p:spPr>
          <a:xfrm>
            <a:off x="9308592" y="402336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0" name="icon_46" descr="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8612" y="4183380"/>
            <a:ext cx="320040" cy="320040"/>
          </a:xfrm>
          <a:prstGeom prst="rect">
            <a:avLst/>
          </a:prstGeom>
        </p:spPr>
      </p:pic>
      <p:sp>
        <p:nvSpPr>
          <p:cNvPr id="41" name="text_47"/>
          <p:cNvSpPr txBox="1"/>
          <p:nvPr/>
        </p:nvSpPr>
        <p:spPr>
          <a:xfrm>
            <a:off x="10771632" y="40233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chemeClr val="accent3"/>
                </a:solidFill>
              </a:rPr>
              <a:t>08</a:t>
            </a:r>
            <a:endParaRPr lang="en-US" sz="3200" dirty="0"/>
          </a:p>
        </p:txBody>
      </p:sp>
      <p:sp>
        <p:nvSpPr>
          <p:cNvPr id="42" name="text_48"/>
          <p:cNvSpPr txBox="1"/>
          <p:nvPr/>
        </p:nvSpPr>
        <p:spPr>
          <a:xfrm>
            <a:off x="9308592" y="4937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Insights &amp; Conclusion</a:t>
            </a:r>
            <a:endParaRPr lang="en-US" sz="18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Project Overview</a:t>
            </a:r>
            <a:endParaRPr lang="en-US" sz="3600" dirty="0"/>
          </a:p>
        </p:txBody>
      </p:sp>
      <p:sp>
        <p:nvSpPr>
          <p:cNvPr id="3" name="text_49"/>
          <p:cNvSpPr txBox="1"/>
          <p:nvPr/>
        </p:nvSpPr>
        <p:spPr>
          <a:xfrm>
            <a:off x="548640" y="146304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Tata Power Smart Energy Control 360° is a real-time style analytics solution that connects MySQL to Power BI.</a:t>
            </a:r>
            <a:endParaRPr lang="en-US" sz="2000" dirty="0"/>
          </a:p>
        </p:txBody>
      </p:sp>
      <p:sp>
        <p:nvSpPr>
          <p:cNvPr id="4" name="text_50"/>
          <p:cNvSpPr txBox="1"/>
          <p:nvPr/>
        </p:nvSpPr>
        <p:spPr>
          <a:xfrm>
            <a:off x="548640" y="292608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Brings plants, grid zones, substations, smart meters, EV charging and billing into one view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Covers 6 fuel types: thermal, hydro, solar, wind, gas and pumped storage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Covers 5 zones: Ajmer, Delhi, Jamshedpur, Mumbai and Odisha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Tracks generation mix, load factor, outages and alerts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Helps teams spot risk early and act faster</a:t>
            </a:r>
            <a:endParaRPr lang="en-US" sz="1600" dirty="0"/>
          </a:p>
        </p:txBody>
      </p:sp>
      <p:sp>
        <p:nvSpPr>
          <p:cNvPr id="5" name="card_51"/>
          <p:cNvSpPr/>
          <p:nvPr/>
        </p:nvSpPr>
        <p:spPr>
          <a:xfrm>
            <a:off x="6309360" y="1463040"/>
            <a:ext cx="2587752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_52"/>
          <p:cNvSpPr txBox="1"/>
          <p:nvPr/>
        </p:nvSpPr>
        <p:spPr>
          <a:xfrm>
            <a:off x="6492240" y="173736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16</a:t>
            </a:r>
            <a:endParaRPr lang="en-US" sz="5400" dirty="0"/>
          </a:p>
        </p:txBody>
      </p:sp>
      <p:sp>
        <p:nvSpPr>
          <p:cNvPr id="7" name="text_53"/>
          <p:cNvSpPr txBox="1"/>
          <p:nvPr/>
        </p:nvSpPr>
        <p:spPr>
          <a:xfrm>
            <a:off x="6492240" y="27432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Database tables</a:t>
            </a:r>
            <a:endParaRPr lang="en-US" sz="1600" dirty="0"/>
          </a:p>
        </p:txBody>
      </p:sp>
      <p:sp>
        <p:nvSpPr>
          <p:cNvPr id="8" name="card_54"/>
          <p:cNvSpPr/>
          <p:nvPr/>
        </p:nvSpPr>
        <p:spPr>
          <a:xfrm>
            <a:off x="9052560" y="1463040"/>
            <a:ext cx="2587752" cy="2057400"/>
          </a:xfrm>
          <a:prstGeom prst="roundRect">
            <a:avLst>
              <a:gd name="adj" fmla="val 5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_55"/>
          <p:cNvSpPr txBox="1"/>
          <p:nvPr/>
        </p:nvSpPr>
        <p:spPr>
          <a:xfrm>
            <a:off x="9235440" y="173736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4</a:t>
            </a:r>
            <a:endParaRPr lang="en-US" sz="5400" dirty="0"/>
          </a:p>
        </p:txBody>
      </p:sp>
      <p:sp>
        <p:nvSpPr>
          <p:cNvPr id="10" name="text_56"/>
          <p:cNvSpPr txBox="1"/>
          <p:nvPr/>
        </p:nvSpPr>
        <p:spPr>
          <a:xfrm>
            <a:off x="9235440" y="274320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Dashboard pages</a:t>
            </a:r>
            <a:endParaRPr lang="en-US" sz="1600" dirty="0"/>
          </a:p>
        </p:txBody>
      </p:sp>
      <p:sp>
        <p:nvSpPr>
          <p:cNvPr id="11" name="card_57"/>
          <p:cNvSpPr/>
          <p:nvPr/>
        </p:nvSpPr>
        <p:spPr>
          <a:xfrm>
            <a:off x="6309360" y="3794760"/>
            <a:ext cx="2587752" cy="2057400"/>
          </a:xfrm>
          <a:prstGeom prst="roundRect">
            <a:avLst>
              <a:gd name="adj" fmla="val 5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_58"/>
          <p:cNvSpPr txBox="1"/>
          <p:nvPr/>
        </p:nvSpPr>
        <p:spPr>
          <a:xfrm>
            <a:off x="6492240" y="406908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14</a:t>
            </a:r>
            <a:endParaRPr lang="en-US" sz="5400" dirty="0"/>
          </a:p>
        </p:txBody>
      </p:sp>
      <p:sp>
        <p:nvSpPr>
          <p:cNvPr id="13" name="text_59"/>
          <p:cNvSpPr txBox="1"/>
          <p:nvPr/>
        </p:nvSpPr>
        <p:spPr>
          <a:xfrm>
            <a:off x="6492240" y="507492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Power plants</a:t>
            </a:r>
            <a:endParaRPr lang="en-US" sz="1600" dirty="0"/>
          </a:p>
        </p:txBody>
      </p:sp>
      <p:sp>
        <p:nvSpPr>
          <p:cNvPr id="14" name="card_60"/>
          <p:cNvSpPr/>
          <p:nvPr/>
        </p:nvSpPr>
        <p:spPr>
          <a:xfrm>
            <a:off x="9052560" y="3794760"/>
            <a:ext cx="2587752" cy="20574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_61"/>
          <p:cNvSpPr txBox="1"/>
          <p:nvPr/>
        </p:nvSpPr>
        <p:spPr>
          <a:xfrm>
            <a:off x="9235440" y="4069080"/>
            <a:ext cx="2221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bg1"/>
                </a:solidFill>
              </a:rPr>
              <a:t>5</a:t>
            </a:r>
            <a:endParaRPr lang="en-US" sz="5400" dirty="0"/>
          </a:p>
        </p:txBody>
      </p:sp>
      <p:sp>
        <p:nvSpPr>
          <p:cNvPr id="16" name="text_62"/>
          <p:cNvSpPr txBox="1"/>
          <p:nvPr/>
        </p:nvSpPr>
        <p:spPr>
          <a:xfrm>
            <a:off x="9235440" y="507492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Grid zones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&amp; Objectives</a:t>
            </a:r>
            <a:endParaRPr lang="en-US" sz="3600" dirty="0"/>
          </a:p>
        </p:txBody>
      </p:sp>
      <p:sp>
        <p:nvSpPr>
          <p:cNvPr id="3" name="card_63"/>
          <p:cNvSpPr/>
          <p:nvPr/>
        </p:nvSpPr>
        <p:spPr>
          <a:xfrm>
            <a:off x="548640" y="1463040"/>
            <a:ext cx="537667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iconbg_64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con_65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1908810"/>
            <a:ext cx="342900" cy="342900"/>
          </a:xfrm>
          <a:prstGeom prst="rect">
            <a:avLst/>
          </a:prstGeom>
        </p:spPr>
      </p:pic>
      <p:sp>
        <p:nvSpPr>
          <p:cNvPr id="6" name="text_66"/>
          <p:cNvSpPr txBox="1"/>
          <p:nvPr/>
        </p:nvSpPr>
        <p:spPr>
          <a:xfrm>
            <a:off x="1691640" y="1737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The Challenge</a:t>
            </a:r>
            <a:endParaRPr lang="en-US" sz="2400" dirty="0"/>
          </a:p>
        </p:txBody>
      </p:sp>
      <p:sp>
        <p:nvSpPr>
          <p:cNvPr id="7" name="text_67"/>
          <p:cNvSpPr txBox="1"/>
          <p:nvPr/>
        </p:nvSpPr>
        <p:spPr>
          <a:xfrm>
            <a:off x="914400" y="27432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Plant, grid, billing and EV data sit in separate places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Outages and grid stress are hard to spot early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single view of generation, demand, supply and revenue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Readings arrive every 15 minutes, too many to review by hand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Manual reporting slows decisions</a:t>
            </a:r>
            <a:endParaRPr lang="en-US" sz="1800" dirty="0"/>
          </a:p>
        </p:txBody>
      </p:sp>
      <p:sp>
        <p:nvSpPr>
          <p:cNvPr id="8" name="card_68"/>
          <p:cNvSpPr/>
          <p:nvPr/>
        </p:nvSpPr>
        <p:spPr>
          <a:xfrm>
            <a:off x="6263640" y="1463040"/>
            <a:ext cx="537667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iconbg_69"/>
          <p:cNvSpPr/>
          <p:nvPr/>
        </p:nvSpPr>
        <p:spPr>
          <a:xfrm>
            <a:off x="6537960" y="1737360"/>
            <a:ext cx="685800" cy="6858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icon_70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10" y="1908810"/>
            <a:ext cx="342900" cy="342900"/>
          </a:xfrm>
          <a:prstGeom prst="rect">
            <a:avLst/>
          </a:prstGeom>
        </p:spPr>
      </p:pic>
      <p:sp>
        <p:nvSpPr>
          <p:cNvPr id="11" name="text_71"/>
          <p:cNvSpPr txBox="1"/>
          <p:nvPr/>
        </p:nvSpPr>
        <p:spPr>
          <a:xfrm>
            <a:off x="7406640" y="1737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Our Objectives</a:t>
            </a:r>
            <a:endParaRPr lang="en-US" sz="2400" dirty="0"/>
          </a:p>
        </p:txBody>
      </p:sp>
      <p:sp>
        <p:nvSpPr>
          <p:cNvPr id="12" name="text_72"/>
          <p:cNvSpPr txBox="1"/>
          <p:nvPr/>
        </p:nvSpPr>
        <p:spPr>
          <a:xfrm>
            <a:off x="6629400" y="27432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Build one MySQL data model of 16 tables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Monitor plants and grid health live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Analyse billing, smart meters and EV charging revenue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Flag outage, substation and alert risk in one place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Track CO2 and clean energy share across the fleet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Challenges &amp; Solutions</a:t>
            </a:r>
            <a:endParaRPr lang="en-US" sz="3600" dirty="0"/>
          </a:p>
        </p:txBody>
      </p:sp>
      <p:sp>
        <p:nvSpPr>
          <p:cNvPr id="3" name="card_173"/>
          <p:cNvSpPr/>
          <p:nvPr/>
        </p:nvSpPr>
        <p:spPr>
          <a:xfrm>
            <a:off x="548640" y="1371600"/>
            <a:ext cx="51206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num_174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_175"/>
          <p:cNvSpPr txBox="1"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_176"/>
          <p:cNvSpPr txBox="1"/>
          <p:nvPr/>
        </p:nvSpPr>
        <p:spPr>
          <a:xfrm>
            <a:off x="1463040" y="1371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Blank sensor values in CSV files</a:t>
            </a:r>
            <a:endParaRPr lang="en-US" sz="1600" dirty="0"/>
          </a:p>
        </p:txBody>
      </p:sp>
      <p:sp>
        <p:nvSpPr>
          <p:cNvPr id="7" name="arrow_177"/>
          <p:cNvSpPr/>
          <p:nvPr/>
        </p:nvSpPr>
        <p:spPr>
          <a:xfrm>
            <a:off x="5806440" y="1618488"/>
            <a:ext cx="6400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card_178"/>
          <p:cNvSpPr/>
          <p:nvPr/>
        </p:nvSpPr>
        <p:spPr>
          <a:xfrm>
            <a:off x="6583680" y="1371600"/>
            <a:ext cx="505663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_179"/>
          <p:cNvSpPr txBox="1"/>
          <p:nvPr/>
        </p:nvSpPr>
        <p:spPr>
          <a:xfrm>
            <a:off x="6812280" y="13716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NULLIF turns blanks into NULL during the load</a:t>
            </a:r>
            <a:endParaRPr lang="en-US" sz="1600" dirty="0"/>
          </a:p>
        </p:txBody>
      </p:sp>
      <p:sp>
        <p:nvSpPr>
          <p:cNvPr id="10" name="card_180"/>
          <p:cNvSpPr/>
          <p:nvPr/>
        </p:nvSpPr>
        <p:spPr>
          <a:xfrm>
            <a:off x="548640" y="2331720"/>
            <a:ext cx="51206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num_181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_182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_183"/>
          <p:cNvSpPr txBox="1"/>
          <p:nvPr/>
        </p:nvSpPr>
        <p:spPr>
          <a:xfrm>
            <a:off x="1463040" y="233172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Duplicate time-stamped readings</a:t>
            </a:r>
            <a:endParaRPr lang="en-US" sz="1600" dirty="0"/>
          </a:p>
        </p:txBody>
      </p:sp>
      <p:sp>
        <p:nvSpPr>
          <p:cNvPr id="14" name="arrow_184"/>
          <p:cNvSpPr/>
          <p:nvPr/>
        </p:nvSpPr>
        <p:spPr>
          <a:xfrm>
            <a:off x="5806440" y="2578608"/>
            <a:ext cx="6400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card_185"/>
          <p:cNvSpPr/>
          <p:nvPr/>
        </p:nvSpPr>
        <p:spPr>
          <a:xfrm>
            <a:off x="6583680" y="2331720"/>
            <a:ext cx="505663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_186"/>
          <p:cNvSpPr txBox="1"/>
          <p:nvPr/>
        </p:nvSpPr>
        <p:spPr>
          <a:xfrm>
            <a:off x="6812280" y="233172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Composite primary keys (Timestamp + ID)</a:t>
            </a:r>
            <a:endParaRPr lang="en-US" sz="1600" dirty="0"/>
          </a:p>
        </p:txBody>
      </p:sp>
      <p:sp>
        <p:nvSpPr>
          <p:cNvPr id="17" name="card_187"/>
          <p:cNvSpPr/>
          <p:nvPr/>
        </p:nvSpPr>
        <p:spPr>
          <a:xfrm>
            <a:off x="548640" y="3291840"/>
            <a:ext cx="51206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num_188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_189"/>
          <p:cNvSpPr txBox="1"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_190"/>
          <p:cNvSpPr txBox="1"/>
          <p:nvPr/>
        </p:nvSpPr>
        <p:spPr>
          <a:xfrm>
            <a:off x="1463040" y="32918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Slow time-based queries</a:t>
            </a:r>
            <a:endParaRPr lang="en-US" sz="1600" dirty="0"/>
          </a:p>
        </p:txBody>
      </p:sp>
      <p:sp>
        <p:nvSpPr>
          <p:cNvPr id="21" name="arrow_191"/>
          <p:cNvSpPr/>
          <p:nvPr/>
        </p:nvSpPr>
        <p:spPr>
          <a:xfrm>
            <a:off x="5806440" y="3538728"/>
            <a:ext cx="6400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card_192"/>
          <p:cNvSpPr/>
          <p:nvPr/>
        </p:nvSpPr>
        <p:spPr>
          <a:xfrm>
            <a:off x="6583680" y="3291840"/>
            <a:ext cx="505663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_193"/>
          <p:cNvSpPr txBox="1"/>
          <p:nvPr/>
        </p:nvSpPr>
        <p:spPr>
          <a:xfrm>
            <a:off x="6812280" y="329184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Indexes on plant, zone and alert time</a:t>
            </a:r>
            <a:endParaRPr lang="en-US" sz="1600" dirty="0"/>
          </a:p>
        </p:txBody>
      </p:sp>
      <p:sp>
        <p:nvSpPr>
          <p:cNvPr id="24" name="card_194"/>
          <p:cNvSpPr/>
          <p:nvPr/>
        </p:nvSpPr>
        <p:spPr>
          <a:xfrm>
            <a:off x="548640" y="4251960"/>
            <a:ext cx="51206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num_195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_196"/>
          <p:cNvSpPr txBox="1"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_197"/>
          <p:cNvSpPr txBox="1"/>
          <p:nvPr/>
        </p:nvSpPr>
        <p:spPr>
          <a:xfrm>
            <a:off x="1463040" y="42519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Dashboards need the latest status</a:t>
            </a:r>
            <a:endParaRPr lang="en-US" sz="1600" dirty="0"/>
          </a:p>
        </p:txBody>
      </p:sp>
      <p:sp>
        <p:nvSpPr>
          <p:cNvPr id="28" name="arrow_198"/>
          <p:cNvSpPr/>
          <p:nvPr/>
        </p:nvSpPr>
        <p:spPr>
          <a:xfrm>
            <a:off x="5806440" y="4498848"/>
            <a:ext cx="6400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card_199"/>
          <p:cNvSpPr/>
          <p:nvPr/>
        </p:nvSpPr>
        <p:spPr>
          <a:xfrm>
            <a:off x="6583680" y="4251960"/>
            <a:ext cx="505663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_200"/>
          <p:cNvSpPr txBox="1"/>
          <p:nvPr/>
        </p:nvSpPr>
        <p:spPr>
          <a:xfrm>
            <a:off x="6812280" y="42519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Views such as v_plant_latest and v_open_alerts</a:t>
            </a:r>
            <a:endParaRPr lang="en-US" sz="1600" dirty="0"/>
          </a:p>
        </p:txBody>
      </p:sp>
      <p:sp>
        <p:nvSpPr>
          <p:cNvPr id="31" name="card_201"/>
          <p:cNvSpPr/>
          <p:nvPr/>
        </p:nvSpPr>
        <p:spPr>
          <a:xfrm>
            <a:off x="548640" y="5212080"/>
            <a:ext cx="51206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num_202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_203"/>
          <p:cNvSpPr txBox="1"/>
          <p:nvPr/>
        </p:nvSpPr>
        <p:spPr>
          <a:xfrm>
            <a:off x="73152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34" name="text_204"/>
          <p:cNvSpPr txBox="1"/>
          <p:nvPr/>
        </p:nvSpPr>
        <p:spPr>
          <a:xfrm>
            <a:off x="1463040" y="5212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Many related tables to manage</a:t>
            </a:r>
            <a:endParaRPr lang="en-US" sz="1600" dirty="0"/>
          </a:p>
        </p:txBody>
      </p:sp>
      <p:sp>
        <p:nvSpPr>
          <p:cNvPr id="35" name="arrow_205"/>
          <p:cNvSpPr/>
          <p:nvPr/>
        </p:nvSpPr>
        <p:spPr>
          <a:xfrm>
            <a:off x="5806440" y="5458968"/>
            <a:ext cx="640080" cy="32918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card_206"/>
          <p:cNvSpPr/>
          <p:nvPr/>
        </p:nvSpPr>
        <p:spPr>
          <a:xfrm>
            <a:off x="6583680" y="5212080"/>
            <a:ext cx="5056632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text_207"/>
          <p:cNvSpPr txBox="1"/>
          <p:nvPr/>
        </p:nvSpPr>
        <p:spPr>
          <a:xfrm>
            <a:off x="6812280" y="52120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Star schema: 6 dimensions and 10 facts</a:t>
            </a:r>
            <a:endParaRPr lang="en-US" sz="16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The Analytics Stack</a:t>
            </a:r>
            <a:endParaRPr lang="en-US" sz="3600" dirty="0"/>
          </a:p>
        </p:txBody>
      </p:sp>
      <p:sp>
        <p:nvSpPr>
          <p:cNvPr id="3" name="card_73"/>
          <p:cNvSpPr/>
          <p:nvPr/>
        </p:nvSpPr>
        <p:spPr>
          <a:xfrm>
            <a:off x="548640" y="1371600"/>
            <a:ext cx="2057400" cy="3657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tackcircle_74"/>
          <p:cNvSpPr/>
          <p:nvPr/>
        </p:nvSpPr>
        <p:spPr>
          <a:xfrm>
            <a:off x="960120" y="1645920"/>
            <a:ext cx="1234440" cy="1234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_75"/>
          <p:cNvSpPr txBox="1"/>
          <p:nvPr/>
        </p:nvSpPr>
        <p:spPr>
          <a:xfrm>
            <a:off x="960120" y="1645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SQL</a:t>
            </a:r>
            <a:endParaRPr lang="en-US" sz="2600" dirty="0"/>
          </a:p>
        </p:txBody>
      </p:sp>
      <p:sp>
        <p:nvSpPr>
          <p:cNvPr id="6" name="text_76"/>
          <p:cNvSpPr txBox="1"/>
          <p:nvPr/>
        </p:nvSpPr>
        <p:spPr>
          <a:xfrm>
            <a:off x="685800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MySQL</a:t>
            </a:r>
            <a:endParaRPr lang="en-US" sz="2000" dirty="0"/>
          </a:p>
        </p:txBody>
      </p:sp>
      <p:sp>
        <p:nvSpPr>
          <p:cNvPr id="7" name="text_77"/>
          <p:cNvSpPr txBox="1"/>
          <p:nvPr/>
        </p:nvSpPr>
        <p:spPr>
          <a:xfrm>
            <a:off x="731520" y="3611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Structured relational storage across 16 linked tables</a:t>
            </a:r>
            <a:endParaRPr lang="en-US" sz="1400" dirty="0"/>
          </a:p>
        </p:txBody>
      </p:sp>
      <p:sp>
        <p:nvSpPr>
          <p:cNvPr id="8" name="card_78"/>
          <p:cNvSpPr/>
          <p:nvPr/>
        </p:nvSpPr>
        <p:spPr>
          <a:xfrm>
            <a:off x="2807208" y="1371600"/>
            <a:ext cx="2057400" cy="3657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tackcircle_79"/>
          <p:cNvSpPr/>
          <p:nvPr/>
        </p:nvSpPr>
        <p:spPr>
          <a:xfrm>
            <a:off x="3218688" y="1645920"/>
            <a:ext cx="1234440" cy="1234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_80"/>
          <p:cNvSpPr txBox="1"/>
          <p:nvPr/>
        </p:nvSpPr>
        <p:spPr>
          <a:xfrm>
            <a:off x="3218688" y="1645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ETL</a:t>
            </a:r>
            <a:endParaRPr lang="en-US" sz="2600" dirty="0"/>
          </a:p>
        </p:txBody>
      </p:sp>
      <p:sp>
        <p:nvSpPr>
          <p:cNvPr id="11" name="text_81"/>
          <p:cNvSpPr txBox="1"/>
          <p:nvPr/>
        </p:nvSpPr>
        <p:spPr>
          <a:xfrm>
            <a:off x="2944368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Power Query</a:t>
            </a:r>
            <a:endParaRPr lang="en-US" sz="2000" dirty="0"/>
          </a:p>
        </p:txBody>
      </p:sp>
      <p:sp>
        <p:nvSpPr>
          <p:cNvPr id="12" name="text_82"/>
          <p:cNvSpPr txBox="1"/>
          <p:nvPr/>
        </p:nvSpPr>
        <p:spPr>
          <a:xfrm>
            <a:off x="2990088" y="3611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Data preparation and transformation layer</a:t>
            </a:r>
            <a:endParaRPr lang="en-US" sz="1400" dirty="0"/>
          </a:p>
        </p:txBody>
      </p:sp>
      <p:sp>
        <p:nvSpPr>
          <p:cNvPr id="13" name="card_83"/>
          <p:cNvSpPr/>
          <p:nvPr/>
        </p:nvSpPr>
        <p:spPr>
          <a:xfrm>
            <a:off x="5065776" y="1371600"/>
            <a:ext cx="2057400" cy="3657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tackcircle_84"/>
          <p:cNvSpPr/>
          <p:nvPr/>
        </p:nvSpPr>
        <p:spPr>
          <a:xfrm>
            <a:off x="5477256" y="1645920"/>
            <a:ext cx="1234440" cy="1234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_85"/>
          <p:cNvSpPr txBox="1"/>
          <p:nvPr/>
        </p:nvSpPr>
        <p:spPr>
          <a:xfrm>
            <a:off x="5477256" y="1645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PBI</a:t>
            </a:r>
            <a:endParaRPr lang="en-US" sz="2600" dirty="0"/>
          </a:p>
        </p:txBody>
      </p:sp>
      <p:sp>
        <p:nvSpPr>
          <p:cNvPr id="16" name="text_86"/>
          <p:cNvSpPr txBox="1"/>
          <p:nvPr/>
        </p:nvSpPr>
        <p:spPr>
          <a:xfrm>
            <a:off x="5202936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Power BI</a:t>
            </a:r>
            <a:endParaRPr lang="en-US" sz="2000" dirty="0"/>
          </a:p>
        </p:txBody>
      </p:sp>
      <p:sp>
        <p:nvSpPr>
          <p:cNvPr id="17" name="text_87"/>
          <p:cNvSpPr txBox="1"/>
          <p:nvPr/>
        </p:nvSpPr>
        <p:spPr>
          <a:xfrm>
            <a:off x="5248656" y="3611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Modelling, DAX calculations, KPIs &amp; interactive visuals</a:t>
            </a:r>
            <a:endParaRPr lang="en-US" sz="1400" dirty="0"/>
          </a:p>
        </p:txBody>
      </p:sp>
      <p:sp>
        <p:nvSpPr>
          <p:cNvPr id="18" name="card_88"/>
          <p:cNvSpPr/>
          <p:nvPr/>
        </p:nvSpPr>
        <p:spPr>
          <a:xfrm>
            <a:off x="7324344" y="1371600"/>
            <a:ext cx="2057400" cy="3657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tackcircle_89"/>
          <p:cNvSpPr/>
          <p:nvPr/>
        </p:nvSpPr>
        <p:spPr>
          <a:xfrm>
            <a:off x="7735824" y="1645920"/>
            <a:ext cx="1234440" cy="1234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_90"/>
          <p:cNvSpPr txBox="1"/>
          <p:nvPr/>
        </p:nvSpPr>
        <p:spPr>
          <a:xfrm>
            <a:off x="7735824" y="1645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DAX</a:t>
            </a:r>
            <a:endParaRPr lang="en-US" sz="2600" dirty="0"/>
          </a:p>
        </p:txBody>
      </p:sp>
      <p:sp>
        <p:nvSpPr>
          <p:cNvPr id="21" name="text_91"/>
          <p:cNvSpPr txBox="1"/>
          <p:nvPr/>
        </p:nvSpPr>
        <p:spPr>
          <a:xfrm>
            <a:off x="7461504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DAX</a:t>
            </a:r>
            <a:endParaRPr lang="en-US" sz="2000" dirty="0"/>
          </a:p>
        </p:txBody>
      </p:sp>
      <p:sp>
        <p:nvSpPr>
          <p:cNvPr id="22" name="text_92"/>
          <p:cNvSpPr txBox="1"/>
          <p:nvPr/>
        </p:nvSpPr>
        <p:spPr>
          <a:xfrm>
            <a:off x="7507224" y="3611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Calculated measures &amp; columns behind every KPI</a:t>
            </a:r>
            <a:endParaRPr lang="en-US" sz="1400" dirty="0"/>
          </a:p>
        </p:txBody>
      </p:sp>
      <p:sp>
        <p:nvSpPr>
          <p:cNvPr id="23" name="card_93"/>
          <p:cNvSpPr/>
          <p:nvPr/>
        </p:nvSpPr>
        <p:spPr>
          <a:xfrm>
            <a:off x="9582912" y="1371600"/>
            <a:ext cx="2057400" cy="3657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tackcircle_94"/>
          <p:cNvSpPr/>
          <p:nvPr/>
        </p:nvSpPr>
        <p:spPr>
          <a:xfrm>
            <a:off x="9994392" y="1645920"/>
            <a:ext cx="1234440" cy="1234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_95"/>
          <p:cNvSpPr txBox="1"/>
          <p:nvPr/>
        </p:nvSpPr>
        <p:spPr>
          <a:xfrm>
            <a:off x="9994392" y="16459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tx1"/>
                </a:solidFill>
              </a:rPr>
              <a:t>GIT</a:t>
            </a:r>
            <a:endParaRPr lang="en-US" sz="2600" dirty="0"/>
          </a:p>
        </p:txBody>
      </p:sp>
      <p:sp>
        <p:nvSpPr>
          <p:cNvPr id="26" name="text_96"/>
          <p:cNvSpPr txBox="1"/>
          <p:nvPr/>
        </p:nvSpPr>
        <p:spPr>
          <a:xfrm>
            <a:off x="9720072" y="31089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GitHub</a:t>
            </a:r>
            <a:endParaRPr lang="en-US" sz="2000" dirty="0"/>
          </a:p>
        </p:txBody>
      </p:sp>
      <p:sp>
        <p:nvSpPr>
          <p:cNvPr id="27" name="text_97"/>
          <p:cNvSpPr txBox="1"/>
          <p:nvPr/>
        </p:nvSpPr>
        <p:spPr>
          <a:xfrm>
            <a:off x="9765792" y="361188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2"/>
                </a:solidFill>
              </a:rPr>
              <a:t>Version control for PBIX, scripts &amp; documentation</a:t>
            </a:r>
            <a:endParaRPr lang="en-US" sz="1400" dirty="0"/>
          </a:p>
        </p:txBody>
      </p:sp>
      <p:sp>
        <p:nvSpPr>
          <p:cNvPr id="28" name="card_98"/>
          <p:cNvSpPr/>
          <p:nvPr/>
        </p:nvSpPr>
        <p:spPr>
          <a:xfrm>
            <a:off x="548640" y="530352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_99"/>
          <p:cNvSpPr txBox="1"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Ready for live refresh:  </a:t>
            </a:r>
            <a:r>
              <a:rPr lang="en-US" sz="1600" dirty="0">
                <a:solidFill>
                  <a:schemeClr val="tx1"/>
                </a:solidFill>
              </a:rPr>
              <a:t>indexes and views such as v_plant_latest, v_fleet_latest and v_open_alerts are built for DirectQuery and time filters.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Data Model: 6 Dimensions, 10 Facts</a:t>
            </a:r>
            <a:endParaRPr lang="en-US" sz="3600" dirty="0"/>
          </a:p>
        </p:txBody>
      </p:sp>
      <p:sp>
        <p:nvSpPr>
          <p:cNvPr id="3" name="card_100"/>
          <p:cNvSpPr/>
          <p:nvPr/>
        </p:nvSpPr>
        <p:spPr>
          <a:xfrm>
            <a:off x="548640" y="1417320"/>
            <a:ext cx="5029200" cy="406908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_101"/>
          <p:cNvSpPr txBox="1"/>
          <p:nvPr/>
        </p:nvSpPr>
        <p:spPr>
          <a:xfrm>
            <a:off x="822960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DIMENSION TABLES  (6)</a:t>
            </a:r>
            <a:endParaRPr lang="en-US" sz="1600" dirty="0"/>
          </a:p>
        </p:txBody>
      </p:sp>
      <p:sp>
        <p:nvSpPr>
          <p:cNvPr id="5" name="card_102"/>
          <p:cNvSpPr/>
          <p:nvPr/>
        </p:nvSpPr>
        <p:spPr>
          <a:xfrm>
            <a:off x="822960" y="210312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_103"/>
          <p:cNvSpPr txBox="1"/>
          <p:nvPr/>
        </p:nvSpPr>
        <p:spPr>
          <a:xfrm>
            <a:off x="91440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dim_plant</a:t>
            </a:r>
            <a:endParaRPr lang="en-US" sz="1600" dirty="0"/>
          </a:p>
        </p:txBody>
      </p:sp>
      <p:sp>
        <p:nvSpPr>
          <p:cNvPr id="7" name="card_104"/>
          <p:cNvSpPr/>
          <p:nvPr/>
        </p:nvSpPr>
        <p:spPr>
          <a:xfrm>
            <a:off x="3108960" y="210312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_105"/>
          <p:cNvSpPr txBox="1"/>
          <p:nvPr/>
        </p:nvSpPr>
        <p:spPr>
          <a:xfrm>
            <a:off x="3200400" y="21031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dim_zone</a:t>
            </a:r>
            <a:endParaRPr lang="en-US" sz="1600" dirty="0"/>
          </a:p>
        </p:txBody>
      </p:sp>
      <p:sp>
        <p:nvSpPr>
          <p:cNvPr id="9" name="card_106"/>
          <p:cNvSpPr/>
          <p:nvPr/>
        </p:nvSpPr>
        <p:spPr>
          <a:xfrm>
            <a:off x="822960" y="315468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_107"/>
          <p:cNvSpPr txBox="1"/>
          <p:nvPr/>
        </p:nvSpPr>
        <p:spPr>
          <a:xfrm>
            <a:off x="91440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dim_substation</a:t>
            </a:r>
            <a:endParaRPr lang="en-US" sz="1600" dirty="0"/>
          </a:p>
        </p:txBody>
      </p:sp>
      <p:sp>
        <p:nvSpPr>
          <p:cNvPr id="11" name="card_108"/>
          <p:cNvSpPr/>
          <p:nvPr/>
        </p:nvSpPr>
        <p:spPr>
          <a:xfrm>
            <a:off x="3108960" y="315468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_109"/>
          <p:cNvSpPr txBox="1"/>
          <p:nvPr/>
        </p:nvSpPr>
        <p:spPr>
          <a:xfrm>
            <a:off x="3200400" y="3154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dim_smartmeter</a:t>
            </a:r>
            <a:endParaRPr lang="en-US" sz="1600" dirty="0"/>
          </a:p>
        </p:txBody>
      </p:sp>
      <p:sp>
        <p:nvSpPr>
          <p:cNvPr id="13" name="card_110"/>
          <p:cNvSpPr/>
          <p:nvPr/>
        </p:nvSpPr>
        <p:spPr>
          <a:xfrm>
            <a:off x="822960" y="420624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_111"/>
          <p:cNvSpPr txBox="1"/>
          <p:nvPr/>
        </p:nvSpPr>
        <p:spPr>
          <a:xfrm>
            <a:off x="914400" y="4206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dim_ev_station</a:t>
            </a:r>
            <a:endParaRPr lang="en-US" sz="1600" dirty="0"/>
          </a:p>
        </p:txBody>
      </p:sp>
      <p:sp>
        <p:nvSpPr>
          <p:cNvPr id="15" name="card_112"/>
          <p:cNvSpPr/>
          <p:nvPr/>
        </p:nvSpPr>
        <p:spPr>
          <a:xfrm>
            <a:off x="3108960" y="4206240"/>
            <a:ext cx="2194560" cy="82296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_113"/>
          <p:cNvSpPr txBox="1"/>
          <p:nvPr/>
        </p:nvSpPr>
        <p:spPr>
          <a:xfrm>
            <a:off x="3200400" y="4206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dim_date</a:t>
            </a:r>
            <a:endParaRPr lang="en-US" sz="1600" dirty="0"/>
          </a:p>
        </p:txBody>
      </p:sp>
      <p:sp>
        <p:nvSpPr>
          <p:cNvPr id="17" name="arrow_model"/>
          <p:cNvSpPr/>
          <p:nvPr/>
        </p:nvSpPr>
        <p:spPr>
          <a:xfrm>
            <a:off x="5760720" y="3063240"/>
            <a:ext cx="68580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card_114"/>
          <p:cNvSpPr/>
          <p:nvPr/>
        </p:nvSpPr>
        <p:spPr>
          <a:xfrm>
            <a:off x="6611112" y="1417320"/>
            <a:ext cx="5029200" cy="4069080"/>
          </a:xfrm>
          <a:prstGeom prst="roundRect">
            <a:avLst>
              <a:gd name="adj" fmla="val 269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_115"/>
          <p:cNvSpPr txBox="1"/>
          <p:nvPr/>
        </p:nvSpPr>
        <p:spPr>
          <a:xfrm>
            <a:off x="6885432" y="1554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FACT TABLES  (10)</a:t>
            </a:r>
            <a:endParaRPr lang="en-US" sz="1600" dirty="0"/>
          </a:p>
        </p:txBody>
      </p:sp>
      <p:sp>
        <p:nvSpPr>
          <p:cNvPr id="20" name="card_116"/>
          <p:cNvSpPr/>
          <p:nvPr/>
        </p:nvSpPr>
        <p:spPr>
          <a:xfrm>
            <a:off x="6885432" y="2057400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_117"/>
          <p:cNvSpPr txBox="1"/>
          <p:nvPr/>
        </p:nvSpPr>
        <p:spPr>
          <a:xfrm>
            <a:off x="6976872" y="2057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plant_live</a:t>
            </a:r>
            <a:endParaRPr lang="en-US" sz="1400" dirty="0"/>
          </a:p>
        </p:txBody>
      </p:sp>
      <p:sp>
        <p:nvSpPr>
          <p:cNvPr id="22" name="card_118"/>
          <p:cNvSpPr/>
          <p:nvPr/>
        </p:nvSpPr>
        <p:spPr>
          <a:xfrm>
            <a:off x="9171432" y="2057400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_119"/>
          <p:cNvSpPr txBox="1"/>
          <p:nvPr/>
        </p:nvSpPr>
        <p:spPr>
          <a:xfrm>
            <a:off x="9262872" y="2057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fleet_live</a:t>
            </a:r>
            <a:endParaRPr lang="en-US" sz="1400" dirty="0"/>
          </a:p>
        </p:txBody>
      </p:sp>
      <p:sp>
        <p:nvSpPr>
          <p:cNvPr id="24" name="card_120"/>
          <p:cNvSpPr/>
          <p:nvPr/>
        </p:nvSpPr>
        <p:spPr>
          <a:xfrm>
            <a:off x="6885432" y="2734056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_121"/>
          <p:cNvSpPr txBox="1"/>
          <p:nvPr/>
        </p:nvSpPr>
        <p:spPr>
          <a:xfrm>
            <a:off x="6976872" y="2734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plant_daily</a:t>
            </a:r>
            <a:endParaRPr lang="en-US" sz="1400" dirty="0"/>
          </a:p>
        </p:txBody>
      </p:sp>
      <p:sp>
        <p:nvSpPr>
          <p:cNvPr id="26" name="card_122"/>
          <p:cNvSpPr/>
          <p:nvPr/>
        </p:nvSpPr>
        <p:spPr>
          <a:xfrm>
            <a:off x="9171432" y="2734056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_123"/>
          <p:cNvSpPr txBox="1"/>
          <p:nvPr/>
        </p:nvSpPr>
        <p:spPr>
          <a:xfrm>
            <a:off x="9262872" y="27340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outage_log</a:t>
            </a:r>
            <a:endParaRPr lang="en-US" sz="1400" dirty="0"/>
          </a:p>
        </p:txBody>
      </p:sp>
      <p:sp>
        <p:nvSpPr>
          <p:cNvPr id="28" name="card_124"/>
          <p:cNvSpPr/>
          <p:nvPr/>
        </p:nvSpPr>
        <p:spPr>
          <a:xfrm>
            <a:off x="6885432" y="3410712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_125"/>
          <p:cNvSpPr txBox="1"/>
          <p:nvPr/>
        </p:nvSpPr>
        <p:spPr>
          <a:xfrm>
            <a:off x="6976872" y="3410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grid_live</a:t>
            </a:r>
            <a:endParaRPr lang="en-US" sz="1400" dirty="0"/>
          </a:p>
        </p:txBody>
      </p:sp>
      <p:sp>
        <p:nvSpPr>
          <p:cNvPr id="30" name="card_126"/>
          <p:cNvSpPr/>
          <p:nvPr/>
        </p:nvSpPr>
        <p:spPr>
          <a:xfrm>
            <a:off x="9171432" y="3410712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_127"/>
          <p:cNvSpPr txBox="1"/>
          <p:nvPr/>
        </p:nvSpPr>
        <p:spPr>
          <a:xfrm>
            <a:off x="9262872" y="3410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substation_health</a:t>
            </a:r>
            <a:endParaRPr lang="en-US" sz="1400" dirty="0"/>
          </a:p>
        </p:txBody>
      </p:sp>
      <p:sp>
        <p:nvSpPr>
          <p:cNvPr id="32" name="card_128"/>
          <p:cNvSpPr/>
          <p:nvPr/>
        </p:nvSpPr>
        <p:spPr>
          <a:xfrm>
            <a:off x="6885432" y="4087368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_129"/>
          <p:cNvSpPr txBox="1"/>
          <p:nvPr/>
        </p:nvSpPr>
        <p:spPr>
          <a:xfrm>
            <a:off x="6976872" y="40873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smartmeter_live</a:t>
            </a:r>
            <a:endParaRPr lang="en-US" sz="1400" dirty="0"/>
          </a:p>
        </p:txBody>
      </p:sp>
      <p:sp>
        <p:nvSpPr>
          <p:cNvPr id="34" name="card_130"/>
          <p:cNvSpPr/>
          <p:nvPr/>
        </p:nvSpPr>
        <p:spPr>
          <a:xfrm>
            <a:off x="9171432" y="4087368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_131"/>
          <p:cNvSpPr txBox="1"/>
          <p:nvPr/>
        </p:nvSpPr>
        <p:spPr>
          <a:xfrm>
            <a:off x="9262872" y="40873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ev_sessions</a:t>
            </a:r>
            <a:endParaRPr lang="en-US" sz="1400" dirty="0"/>
          </a:p>
        </p:txBody>
      </p:sp>
      <p:sp>
        <p:nvSpPr>
          <p:cNvPr id="36" name="card_132"/>
          <p:cNvSpPr/>
          <p:nvPr/>
        </p:nvSpPr>
        <p:spPr>
          <a:xfrm>
            <a:off x="6885432" y="4764024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_133"/>
          <p:cNvSpPr txBox="1"/>
          <p:nvPr/>
        </p:nvSpPr>
        <p:spPr>
          <a:xfrm>
            <a:off x="6976872" y="4764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billing</a:t>
            </a:r>
            <a:endParaRPr lang="en-US" sz="1400" dirty="0"/>
          </a:p>
        </p:txBody>
      </p:sp>
      <p:sp>
        <p:nvSpPr>
          <p:cNvPr id="38" name="card_134"/>
          <p:cNvSpPr/>
          <p:nvPr/>
        </p:nvSpPr>
        <p:spPr>
          <a:xfrm>
            <a:off x="9171432" y="4764024"/>
            <a:ext cx="219456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9" name="text_135"/>
          <p:cNvSpPr txBox="1"/>
          <p:nvPr/>
        </p:nvSpPr>
        <p:spPr>
          <a:xfrm>
            <a:off x="9262872" y="476402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alerts</a:t>
            </a:r>
            <a:endParaRPr lang="en-US" sz="1400" dirty="0"/>
          </a:p>
        </p:txBody>
      </p:sp>
      <p:sp>
        <p:nvSpPr>
          <p:cNvPr id="40" name="text_136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Every table has a primary key. Live fact tables use a composite key of Timestamp + ID.</a:t>
            </a:r>
            <a:endParaRPr lang="en-US" sz="16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SQL: Database &amp; Dimension Table</a:t>
            </a:r>
            <a:endParaRPr lang="en-US" sz="3600" dirty="0"/>
          </a:p>
        </p:txBody>
      </p:sp>
      <p:sp>
        <p:nvSpPr>
          <p:cNvPr id="3" name="card_137"/>
          <p:cNvSpPr/>
          <p:nvPr/>
        </p:nvSpPr>
        <p:spPr>
          <a:xfrm>
            <a:off x="548640" y="1371600"/>
            <a:ext cx="6949440" cy="475488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_138"/>
          <p:cNvSpPr txBox="1"/>
          <p:nvPr/>
        </p:nvSpPr>
        <p:spPr>
          <a:xfrm>
            <a:off x="777240" y="1481328"/>
            <a:ext cx="6492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1. Database and dimension table: dim_plant</a:t>
            </a:r>
            <a:endParaRPr lang="en-US" sz="1200" dirty="0"/>
          </a:p>
        </p:txBody>
      </p:sp>
      <p:sp>
        <p:nvSpPr>
          <p:cNvPr id="5" name="code_139"/>
          <p:cNvSpPr txBox="1"/>
          <p:nvPr/>
        </p:nvSpPr>
        <p:spPr>
          <a:xfrm>
            <a:off x="777240" y="1783080"/>
            <a:ext cx="6492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Tata Power Smart Energy Control 360 - MySQL schema (MySQL 8.x)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tata_power_360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CHARACTER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utf8mb4;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tata_power_360;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dim_plant;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dim_plant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`PlantID`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`Plant_Name`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`Fuel_Type`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`Segment`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`Region`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`State`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`Latitude`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`Longitude`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`Capacity_MW`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`Ownership`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(50)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`Base_PLF`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`Emission_Factor_tCO2_per_MWh`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`Temp_Limit_C`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`Data_Note`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VARCHAR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(100)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(`PlantID`)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6" name="card_141"/>
          <p:cNvSpPr/>
          <p:nvPr/>
        </p:nvSpPr>
        <p:spPr>
          <a:xfrm>
            <a:off x="7726680" y="1371600"/>
            <a:ext cx="3913632" cy="4754880"/>
          </a:xfrm>
          <a:prstGeom prst="roundRect">
            <a:avLst>
              <a:gd name="adj" fmla="val 28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_142"/>
          <p:cNvSpPr txBox="1"/>
          <p:nvPr/>
        </p:nvSpPr>
        <p:spPr>
          <a:xfrm>
            <a:off x="800100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What it does</a:t>
            </a:r>
            <a:endParaRPr lang="en-US" sz="2000" dirty="0"/>
          </a:p>
        </p:txBody>
      </p:sp>
      <p:sp>
        <p:nvSpPr>
          <p:cNvPr id="8" name="text_143"/>
          <p:cNvSpPr txBox="1"/>
          <p:nvPr/>
        </p:nvSpPr>
        <p:spPr>
          <a:xfrm>
            <a:off x="8001000" y="2103120"/>
            <a:ext cx="3383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Creates the project database in UTF-8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DROP TABLE IF EXISTS lets the script re-run cleanly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dim_plant describes each of the 14 plants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Holds fuel type, region, state, capacity and location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Base_PLF and emission factor are stored per plant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PlantID is the primary key used in joins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Cleaning, Visualization &amp; DAX</a:t>
            </a:r>
            <a:endParaRPr lang="en-US" sz="3600" dirty="0"/>
          </a:p>
        </p:txBody>
      </p:sp>
      <p:sp>
        <p:nvSpPr>
          <p:cNvPr id="3" name="card_208"/>
          <p:cNvSpPr/>
          <p:nvPr/>
        </p:nvSpPr>
        <p:spPr>
          <a:xfrm>
            <a:off x="548640" y="141732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card_209"/>
          <p:cNvSpPr/>
          <p:nvPr/>
        </p:nvSpPr>
        <p:spPr>
          <a:xfrm>
            <a:off x="548640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iconbg_210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con_211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1657350"/>
            <a:ext cx="297180" cy="297180"/>
          </a:xfrm>
          <a:prstGeom prst="rect">
            <a:avLst/>
          </a:prstGeom>
        </p:spPr>
      </p:pic>
      <p:sp>
        <p:nvSpPr>
          <p:cNvPr id="7" name="text_212"/>
          <p:cNvSpPr txBox="1"/>
          <p:nvPr/>
        </p:nvSpPr>
        <p:spPr>
          <a:xfrm>
            <a:off x="1463040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Cleaning</a:t>
            </a:r>
            <a:endParaRPr lang="en-US" sz="2000" dirty="0"/>
          </a:p>
        </p:txBody>
      </p:sp>
      <p:sp>
        <p:nvSpPr>
          <p:cNvPr id="8" name="text_213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 NULL rules and primary keys block bad rows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Blank sensor values converted to NULL with NULLIF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Correct types: DATETIME, DATE, DOUBLE, INT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Tables named Dim_ and Fact_ in Power BI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Relationships checked on ZoneID, PlantID, StationID</a:t>
            </a:r>
            <a:endParaRPr lang="en-US" sz="1600" dirty="0"/>
          </a:p>
        </p:txBody>
      </p:sp>
      <p:sp>
        <p:nvSpPr>
          <p:cNvPr id="9" name="card_214"/>
          <p:cNvSpPr/>
          <p:nvPr/>
        </p:nvSpPr>
        <p:spPr>
          <a:xfrm>
            <a:off x="4334256" y="141732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card_215"/>
          <p:cNvSpPr/>
          <p:nvPr/>
        </p:nvSpPr>
        <p:spPr>
          <a:xfrm>
            <a:off x="4334256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iconbg_216"/>
          <p:cNvSpPr/>
          <p:nvPr/>
        </p:nvSpPr>
        <p:spPr>
          <a:xfrm>
            <a:off x="4517136" y="150876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icon_217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726" y="1657350"/>
            <a:ext cx="297180" cy="297180"/>
          </a:xfrm>
          <a:prstGeom prst="rect">
            <a:avLst/>
          </a:prstGeom>
        </p:spPr>
      </p:pic>
      <p:sp>
        <p:nvSpPr>
          <p:cNvPr id="13" name="text_218"/>
          <p:cNvSpPr txBox="1"/>
          <p:nvPr/>
        </p:nvSpPr>
        <p:spPr>
          <a:xfrm>
            <a:off x="5248656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Data Visualization</a:t>
            </a:r>
            <a:endParaRPr lang="en-US" sz="2000" dirty="0"/>
          </a:p>
        </p:txBody>
      </p:sp>
      <p:sp>
        <p:nvSpPr>
          <p:cNvPr id="14" name="text_219"/>
          <p:cNvSpPr txBox="1"/>
          <p:nvPr/>
        </p:nvSpPr>
        <p:spPr>
          <a:xfrm>
            <a:off x="4562856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KPI cards for headline numbers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Donut, treemap, waterfall and combo charts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Maps for plants, zones and EV stations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Slicers: state, zone, date range, severity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Dark Tata-themed design with hover details</a:t>
            </a:r>
            <a:endParaRPr lang="en-US" sz="1600" dirty="0"/>
          </a:p>
        </p:txBody>
      </p:sp>
      <p:sp>
        <p:nvSpPr>
          <p:cNvPr id="15" name="card_220"/>
          <p:cNvSpPr/>
          <p:nvPr/>
        </p:nvSpPr>
        <p:spPr>
          <a:xfrm>
            <a:off x="8119872" y="1417320"/>
            <a:ext cx="3520440" cy="47548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card_221"/>
          <p:cNvSpPr/>
          <p:nvPr/>
        </p:nvSpPr>
        <p:spPr>
          <a:xfrm>
            <a:off x="8119872" y="1417320"/>
            <a:ext cx="352044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iconbg_222"/>
          <p:cNvSpPr/>
          <p:nvPr/>
        </p:nvSpPr>
        <p:spPr>
          <a:xfrm>
            <a:off x="8302752" y="1508760"/>
            <a:ext cx="594360" cy="5943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8" name="icon_223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1342" y="1657350"/>
            <a:ext cx="297180" cy="297180"/>
          </a:xfrm>
          <a:prstGeom prst="rect">
            <a:avLst/>
          </a:prstGeom>
        </p:spPr>
      </p:pic>
      <p:sp>
        <p:nvSpPr>
          <p:cNvPr id="19" name="text_224"/>
          <p:cNvSpPr txBox="1"/>
          <p:nvPr/>
        </p:nvSpPr>
        <p:spPr>
          <a:xfrm>
            <a:off x="9034272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DAX Measures</a:t>
            </a:r>
            <a:endParaRPr lang="en-US" sz="2000" dirty="0"/>
          </a:p>
        </p:txBody>
      </p:sp>
      <p:sp>
        <p:nvSpPr>
          <p:cNvPr id="20" name="text_225"/>
          <p:cNvSpPr txBox="1"/>
          <p:nvPr/>
        </p:nvSpPr>
        <p:spPr>
          <a:xfrm>
            <a:off x="8348472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Total Billed = SUM(Fact_Billing[Amount_INR])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Collection Efficiency % = DIVIDE(Paid, Total Billed)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Active Smart Meters = DISTINCTCOUNT of meters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 Sessions = COUNT of SessionID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 Energy kWh = SUM(kWh_Delivered)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Dashboard 1 · Plant Overview</a:t>
            </a:r>
            <a:endParaRPr lang="en-US" sz="3600" dirty="0"/>
          </a:p>
        </p:txBody>
      </p:sp>
      <p:pic>
        <p:nvPicPr>
          <p:cNvPr id="3" name="dashboard_226" descr="Dashboard 1 · Plant Over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315200" cy="4119582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" name="text_227"/>
          <p:cNvSpPr txBox="1"/>
          <p:nvPr/>
        </p:nvSpPr>
        <p:spPr>
          <a:xfrm>
            <a:off x="548640" y="562834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Page 1 of 4: Smart Energy Control 360°</a:t>
            </a:r>
            <a:endParaRPr lang="en-US" sz="1200" dirty="0"/>
          </a:p>
        </p:txBody>
      </p:sp>
      <p:sp>
        <p:nvSpPr>
          <p:cNvPr id="5" name="text_228"/>
          <p:cNvSpPr txBox="1"/>
          <p:nvPr/>
        </p:nvSpPr>
        <p:spPr>
          <a:xfrm>
            <a:off x="548640" y="592095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Takeaway:  </a:t>
            </a:r>
            <a:r>
              <a:rPr lang="en-US" sz="1400" dirty="0">
                <a:solidFill>
                  <a:schemeClr val="tx1"/>
                </a:solidFill>
              </a:rPr>
              <a:t>Availability is 100% but PLF is 27.77%, so there is room to raise utilisation.</a:t>
            </a:r>
            <a:endParaRPr lang="en-US" sz="1400" dirty="0"/>
          </a:p>
        </p:txBody>
      </p:sp>
      <p:sp>
        <p:nvSpPr>
          <p:cNvPr id="6" name="card_229"/>
          <p:cNvSpPr/>
          <p:nvPr/>
        </p:nvSpPr>
        <p:spPr>
          <a:xfrm>
            <a:off x="8321040" y="1417320"/>
            <a:ext cx="3319272" cy="448056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_230"/>
          <p:cNvSpPr txBox="1"/>
          <p:nvPr/>
        </p:nvSpPr>
        <p:spPr>
          <a:xfrm>
            <a:off x="854964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KEY KPIs</a:t>
            </a:r>
            <a:endParaRPr lang="en-US" sz="1400" dirty="0"/>
          </a:p>
        </p:txBody>
      </p:sp>
      <p:sp>
        <p:nvSpPr>
          <p:cNvPr id="8" name="text_231"/>
          <p:cNvSpPr txBox="1"/>
          <p:nvPr/>
        </p:nvSpPr>
        <p:spPr>
          <a:xfrm>
            <a:off x="8549640" y="187452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 Output:  </a:t>
            </a:r>
            <a:r>
              <a:rPr lang="en-US" sz="1400" b="1" dirty="0">
                <a:solidFill>
                  <a:schemeClr val="accent3"/>
                </a:solidFill>
              </a:rPr>
              <a:t>73.73K MW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Plant Load Factor:  </a:t>
            </a:r>
            <a:r>
              <a:rPr lang="en-US" sz="1400" b="1" dirty="0">
                <a:solidFill>
                  <a:schemeClr val="accent3"/>
                </a:solidFill>
              </a:rPr>
              <a:t>27.77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Avg Efficiency:  </a:t>
            </a:r>
            <a:r>
              <a:rPr lang="en-US" sz="1400" b="1" dirty="0">
                <a:solidFill>
                  <a:schemeClr val="accent3"/>
                </a:solidFill>
              </a:rPr>
              <a:t>31.11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Avg Availability:  </a:t>
            </a:r>
            <a:r>
              <a:rPr lang="en-US" sz="1400" b="1" dirty="0">
                <a:solidFill>
                  <a:schemeClr val="accent3"/>
                </a:solidFill>
              </a:rPr>
              <a:t>100.00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 Revenue:  </a:t>
            </a:r>
            <a:r>
              <a:rPr lang="en-US" sz="1400" b="1" dirty="0">
                <a:solidFill>
                  <a:schemeClr val="accent3"/>
                </a:solidFill>
              </a:rPr>
              <a:t>168.41</a:t>
            </a:r>
            <a:endParaRPr lang="en-US" sz="1400" dirty="0"/>
          </a:p>
        </p:txBody>
      </p:sp>
      <p:sp>
        <p:nvSpPr>
          <p:cNvPr id="9" name="text_232"/>
          <p:cNvSpPr txBox="1"/>
          <p:nvPr/>
        </p:nvSpPr>
        <p:spPr>
          <a:xfrm>
            <a:off x="854964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VISUALS</a:t>
            </a:r>
            <a:endParaRPr lang="en-US" sz="1400" dirty="0"/>
          </a:p>
        </p:txBody>
      </p:sp>
      <p:sp>
        <p:nvSpPr>
          <p:cNvPr id="10" name="text_233"/>
          <p:cNvSpPr txBox="1"/>
          <p:nvPr/>
        </p:nvSpPr>
        <p:spPr>
          <a:xfrm>
            <a:off x="8549640" y="3931920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Generation mix across 14 plants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Plant location and output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Output trend treemap and Top 5 plants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plant status with state slicer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Dashboard 2 · Grid &amp; Substations</a:t>
            </a:r>
            <a:endParaRPr lang="en-US" sz="3600" dirty="0"/>
          </a:p>
        </p:txBody>
      </p:sp>
      <p:pic>
        <p:nvPicPr>
          <p:cNvPr id="3" name="dashboard_234" descr="Dashboard 2 · Grid &amp; Substa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315200" cy="4160082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" name="text_235"/>
          <p:cNvSpPr txBox="1"/>
          <p:nvPr/>
        </p:nvSpPr>
        <p:spPr>
          <a:xfrm>
            <a:off x="548640" y="566884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Page 2 of 4: Grid and Substations</a:t>
            </a:r>
            <a:endParaRPr lang="en-US" sz="1200" dirty="0"/>
          </a:p>
        </p:txBody>
      </p:sp>
      <p:sp>
        <p:nvSpPr>
          <p:cNvPr id="5" name="text_236"/>
          <p:cNvSpPr txBox="1"/>
          <p:nvPr/>
        </p:nvSpPr>
        <p:spPr>
          <a:xfrm>
            <a:off x="548640" y="596145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Takeaway:  </a:t>
            </a:r>
            <a:r>
              <a:rPr lang="en-US" sz="1400" dirty="0">
                <a:solidFill>
                  <a:schemeClr val="tx1"/>
                </a:solidFill>
              </a:rPr>
              <a:t>Frequency of 49.99 Hz and a grid health score of 89.20 point to a stable grid.</a:t>
            </a:r>
            <a:endParaRPr lang="en-US" sz="1400" dirty="0"/>
          </a:p>
        </p:txBody>
      </p:sp>
      <p:sp>
        <p:nvSpPr>
          <p:cNvPr id="6" name="card_237"/>
          <p:cNvSpPr/>
          <p:nvPr/>
        </p:nvSpPr>
        <p:spPr>
          <a:xfrm>
            <a:off x="8321040" y="1417320"/>
            <a:ext cx="3319272" cy="448056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_238"/>
          <p:cNvSpPr txBox="1"/>
          <p:nvPr/>
        </p:nvSpPr>
        <p:spPr>
          <a:xfrm>
            <a:off x="854964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KEY KPIs</a:t>
            </a:r>
            <a:endParaRPr lang="en-US" sz="1400" dirty="0"/>
          </a:p>
        </p:txBody>
      </p:sp>
      <p:sp>
        <p:nvSpPr>
          <p:cNvPr id="8" name="text_239"/>
          <p:cNvSpPr txBox="1"/>
          <p:nvPr/>
        </p:nvSpPr>
        <p:spPr>
          <a:xfrm>
            <a:off x="8549640" y="187452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Grid Frequency:  </a:t>
            </a:r>
            <a:r>
              <a:rPr lang="en-US" sz="1400" b="1" dirty="0">
                <a:solidFill>
                  <a:schemeClr val="accent3"/>
                </a:solidFill>
              </a:rPr>
              <a:t>49.99 Hz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Peak Demand:  </a:t>
            </a:r>
            <a:r>
              <a:rPr lang="en-US" sz="1400" b="1" dirty="0">
                <a:solidFill>
                  <a:schemeClr val="accent3"/>
                </a:solidFill>
              </a:rPr>
              <a:t>568.60 MW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Unserved Energy:  </a:t>
            </a:r>
            <a:r>
              <a:rPr lang="en-US" sz="1400" b="1" dirty="0">
                <a:solidFill>
                  <a:schemeClr val="accent3"/>
                </a:solidFill>
              </a:rPr>
              <a:t>167.83K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Technical Loss:  </a:t>
            </a:r>
            <a:r>
              <a:rPr lang="en-US" sz="1400" b="1" dirty="0">
                <a:solidFill>
                  <a:schemeClr val="accent3"/>
                </a:solidFill>
              </a:rPr>
              <a:t>6.08%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Substation Load:  </a:t>
            </a:r>
            <a:r>
              <a:rPr lang="en-US" sz="1400" b="1" dirty="0">
                <a:solidFill>
                  <a:schemeClr val="accent3"/>
                </a:solidFill>
              </a:rPr>
              <a:t>49.40</a:t>
            </a:r>
            <a:endParaRPr lang="en-US" sz="1400" dirty="0"/>
          </a:p>
        </p:txBody>
      </p:sp>
      <p:sp>
        <p:nvSpPr>
          <p:cNvPr id="9" name="text_240"/>
          <p:cNvSpPr txBox="1"/>
          <p:nvPr/>
        </p:nvSpPr>
        <p:spPr>
          <a:xfrm>
            <a:off x="854964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VISUALS</a:t>
            </a:r>
            <a:endParaRPr lang="en-US" sz="1400" dirty="0"/>
          </a:p>
        </p:txBody>
      </p:sp>
      <p:sp>
        <p:nvSpPr>
          <p:cNvPr id="10" name="text_241"/>
          <p:cNvSpPr txBox="1"/>
          <p:nvPr/>
        </p:nvSpPr>
        <p:spPr>
          <a:xfrm>
            <a:off x="8549640" y="3931920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Demand vs supply and unserved energy by zone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Grid health score: 89.20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10 substations and grid status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Slicers for faults, zone and temperature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Dashboard 3 · Billing &amp; EV Mobility</a:t>
            </a:r>
            <a:endParaRPr lang="en-US" sz="3600" dirty="0"/>
          </a:p>
        </p:txBody>
      </p:sp>
      <p:pic>
        <p:nvPicPr>
          <p:cNvPr id="3" name="dashboard_242" descr="Dashboard 3 · Billing &amp; EV Mobilit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315200" cy="411810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" name="text_243"/>
          <p:cNvSpPr txBox="1"/>
          <p:nvPr/>
        </p:nvSpPr>
        <p:spPr>
          <a:xfrm>
            <a:off x="548640" y="56268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Page 3 of 4: Billing &amp; EV Mobility</a:t>
            </a:r>
            <a:endParaRPr lang="en-US" sz="1200" dirty="0"/>
          </a:p>
        </p:txBody>
      </p:sp>
      <p:sp>
        <p:nvSpPr>
          <p:cNvPr id="5" name="text_244"/>
          <p:cNvSpPr txBox="1"/>
          <p:nvPr/>
        </p:nvSpPr>
        <p:spPr>
          <a:xfrm>
            <a:off x="548640" y="59194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Takeaway:  </a:t>
            </a:r>
            <a:r>
              <a:rPr lang="en-US" sz="1400" dirty="0">
                <a:solidFill>
                  <a:schemeClr val="tx1"/>
                </a:solidFill>
              </a:rPr>
              <a:t>Residential bills dominate, and 15K EV sessions show strong charging demand.</a:t>
            </a:r>
            <a:endParaRPr lang="en-US" sz="1400" dirty="0"/>
          </a:p>
        </p:txBody>
      </p:sp>
      <p:sp>
        <p:nvSpPr>
          <p:cNvPr id="6" name="card_245"/>
          <p:cNvSpPr/>
          <p:nvPr/>
        </p:nvSpPr>
        <p:spPr>
          <a:xfrm>
            <a:off x="8321040" y="1417320"/>
            <a:ext cx="3319272" cy="448056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_246"/>
          <p:cNvSpPr txBox="1"/>
          <p:nvPr/>
        </p:nvSpPr>
        <p:spPr>
          <a:xfrm>
            <a:off x="854964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KEY KPIs</a:t>
            </a:r>
            <a:endParaRPr lang="en-US" sz="1400" dirty="0"/>
          </a:p>
        </p:txBody>
      </p:sp>
      <p:sp>
        <p:nvSpPr>
          <p:cNvPr id="8" name="text_247"/>
          <p:cNvSpPr txBox="1"/>
          <p:nvPr/>
        </p:nvSpPr>
        <p:spPr>
          <a:xfrm>
            <a:off x="8549640" y="187452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 Billed:  </a:t>
            </a:r>
            <a:r>
              <a:rPr lang="en-US" sz="1400" b="1" dirty="0">
                <a:solidFill>
                  <a:schemeClr val="accent3"/>
                </a:solidFill>
              </a:rPr>
              <a:t>37.45K INR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Units:  </a:t>
            </a:r>
            <a:r>
              <a:rPr lang="en-US" sz="1400" b="1" dirty="0">
                <a:solidFill>
                  <a:schemeClr val="accent3"/>
                </a:solidFill>
              </a:rPr>
              <a:t>1.72K kWh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Active Smart Meters:  </a:t>
            </a:r>
            <a:r>
              <a:rPr lang="en-US" sz="1400" b="1" dirty="0">
                <a:solidFill>
                  <a:schemeClr val="accent3"/>
                </a:solidFill>
              </a:rPr>
              <a:t>5K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 Charging Sessions:  </a:t>
            </a:r>
            <a:r>
              <a:rPr lang="en-US" sz="1400" b="1" dirty="0">
                <a:solidFill>
                  <a:schemeClr val="accent3"/>
                </a:solidFill>
              </a:rPr>
              <a:t>15K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Rooftop Solar:  </a:t>
            </a:r>
            <a:r>
              <a:rPr lang="en-US" sz="1400" b="1" dirty="0">
                <a:solidFill>
                  <a:schemeClr val="accent3"/>
                </a:solidFill>
              </a:rPr>
              <a:t>5K</a:t>
            </a:r>
            <a:endParaRPr lang="en-US" sz="1400" dirty="0"/>
          </a:p>
        </p:txBody>
      </p:sp>
      <p:sp>
        <p:nvSpPr>
          <p:cNvPr id="9" name="text_248"/>
          <p:cNvSpPr txBox="1"/>
          <p:nvPr/>
        </p:nvSpPr>
        <p:spPr>
          <a:xfrm>
            <a:off x="854964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VISUALS</a:t>
            </a:r>
            <a:endParaRPr lang="en-US" sz="1400" dirty="0"/>
          </a:p>
        </p:txBody>
      </p:sp>
      <p:sp>
        <p:nvSpPr>
          <p:cNvPr id="10" name="text_249"/>
          <p:cNvSpPr txBox="1"/>
          <p:nvPr/>
        </p:nvSpPr>
        <p:spPr>
          <a:xfrm>
            <a:off x="8549640" y="3931920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 revenue by zone: AC vs DC fast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Billing payment status by category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Monthly billing revenue trend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Meter reading status and billing alerts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Dashboard 4 · Energy Risk 360°</a:t>
            </a:r>
            <a:endParaRPr lang="en-US" sz="3600" dirty="0"/>
          </a:p>
        </p:txBody>
      </p:sp>
      <p:pic>
        <p:nvPicPr>
          <p:cNvPr id="3" name="dashboard_250" descr="Dashboard 4 · Energy Risk 360°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7315200" cy="4073103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pic>
      <p:sp>
        <p:nvSpPr>
          <p:cNvPr id="4" name="text_251"/>
          <p:cNvSpPr txBox="1"/>
          <p:nvPr/>
        </p:nvSpPr>
        <p:spPr>
          <a:xfrm>
            <a:off x="548640" y="5581863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Page 4 of 4: Energy Risk &amp; Intelligence 360°</a:t>
            </a:r>
            <a:endParaRPr lang="en-US" sz="1200" dirty="0"/>
          </a:p>
        </p:txBody>
      </p:sp>
      <p:sp>
        <p:nvSpPr>
          <p:cNvPr id="5" name="text_252"/>
          <p:cNvSpPr txBox="1"/>
          <p:nvPr/>
        </p:nvSpPr>
        <p:spPr>
          <a:xfrm>
            <a:off x="548640" y="5874471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Takeaway:  </a:t>
            </a:r>
            <a:r>
              <a:rPr lang="en-US" sz="1400" dirty="0">
                <a:solidFill>
                  <a:schemeClr val="tx1"/>
                </a:solidFill>
              </a:rPr>
              <a:t>Mundra UMTPP leads lost capacity; Trombay TPS (P01) is the plant flagged as affected.</a:t>
            </a:r>
            <a:endParaRPr lang="en-US" sz="1400" dirty="0"/>
          </a:p>
        </p:txBody>
      </p:sp>
      <p:sp>
        <p:nvSpPr>
          <p:cNvPr id="6" name="card_253"/>
          <p:cNvSpPr/>
          <p:nvPr/>
        </p:nvSpPr>
        <p:spPr>
          <a:xfrm>
            <a:off x="8321040" y="1417320"/>
            <a:ext cx="3319272" cy="4480560"/>
          </a:xfrm>
          <a:prstGeom prst="roundRect">
            <a:avLst>
              <a:gd name="adj" fmla="val 33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_254"/>
          <p:cNvSpPr txBox="1"/>
          <p:nvPr/>
        </p:nvSpPr>
        <p:spPr>
          <a:xfrm>
            <a:off x="854964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KEY KPIs</a:t>
            </a:r>
            <a:endParaRPr lang="en-US" sz="1400" dirty="0"/>
          </a:p>
        </p:txBody>
      </p:sp>
      <p:sp>
        <p:nvSpPr>
          <p:cNvPr id="8" name="text_255"/>
          <p:cNvSpPr txBox="1"/>
          <p:nvPr/>
        </p:nvSpPr>
        <p:spPr>
          <a:xfrm>
            <a:off x="8549640" y="187452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Unserved Power:  </a:t>
            </a:r>
            <a:r>
              <a:rPr lang="en-US" sz="1400" b="1" dirty="0">
                <a:solidFill>
                  <a:schemeClr val="accent3"/>
                </a:solidFill>
              </a:rPr>
              <a:t>1.93K MW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 Demand:  </a:t>
            </a:r>
            <a:r>
              <a:rPr lang="en-US" sz="1400" b="1" dirty="0">
                <a:solidFill>
                  <a:schemeClr val="accent3"/>
                </a:solidFill>
              </a:rPr>
              <a:t>5.42M MW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Total Supply:  </a:t>
            </a:r>
            <a:r>
              <a:rPr lang="en-US" sz="1400" b="1" dirty="0">
                <a:solidFill>
                  <a:schemeClr val="accent3"/>
                </a:solidFill>
              </a:rPr>
              <a:t>664.25 MW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Outage Capacity Lost:  </a:t>
            </a:r>
            <a:r>
              <a:rPr lang="en-US" sz="1400" b="1" dirty="0">
                <a:solidFill>
                  <a:schemeClr val="accent3"/>
                </a:solidFill>
              </a:rPr>
              <a:t>12.94K MW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Avg Substation Load:  </a:t>
            </a:r>
            <a:r>
              <a:rPr lang="en-US" sz="1400" b="1" dirty="0">
                <a:solidFill>
                  <a:schemeClr val="accent3"/>
                </a:solidFill>
              </a:rPr>
              <a:t>53.43%</a:t>
            </a:r>
            <a:endParaRPr lang="en-US" sz="1400" dirty="0"/>
          </a:p>
        </p:txBody>
      </p:sp>
      <p:sp>
        <p:nvSpPr>
          <p:cNvPr id="9" name="text_256"/>
          <p:cNvSpPr txBox="1"/>
          <p:nvPr/>
        </p:nvSpPr>
        <p:spPr>
          <a:xfrm>
            <a:off x="8549640" y="3611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VISUALS</a:t>
            </a:r>
            <a:endParaRPr lang="en-US" sz="1400" dirty="0"/>
          </a:p>
        </p:txBody>
      </p:sp>
      <p:sp>
        <p:nvSpPr>
          <p:cNvPr id="10" name="text_257"/>
          <p:cNvSpPr txBox="1"/>
          <p:nvPr/>
        </p:nvSpPr>
        <p:spPr>
          <a:xfrm>
            <a:off x="8549640" y="3931920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Grid stress zone risk matrix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Root cause waterfall and plant anomaly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Outage impact: forced vs planned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Digital twin map and substation health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Key Insights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417320"/>
          <a:ext cx="53035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card_282"/>
          <p:cNvSpPr/>
          <p:nvPr/>
        </p:nvSpPr>
        <p:spPr>
          <a:xfrm>
            <a:off x="6217920" y="1417320"/>
            <a:ext cx="542239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_283"/>
          <p:cNvSpPr/>
          <p:nvPr/>
        </p:nvSpPr>
        <p:spPr>
          <a:xfrm>
            <a:off x="6355080" y="1481328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6" name="icon_284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18488"/>
            <a:ext cx="274320" cy="274320"/>
          </a:xfrm>
          <a:prstGeom prst="rect">
            <a:avLst/>
          </a:prstGeom>
        </p:spPr>
      </p:pic>
      <p:sp>
        <p:nvSpPr>
          <p:cNvPr id="7" name="text_285"/>
          <p:cNvSpPr txBox="1"/>
          <p:nvPr/>
        </p:nvSpPr>
        <p:spPr>
          <a:xfrm>
            <a:off x="7086600" y="143560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Availability reads 100% but PLF is 27.77%: capacity is ready but under-used.</a:t>
            </a:r>
            <a:endParaRPr lang="en-US" sz="1400" dirty="0"/>
          </a:p>
        </p:txBody>
      </p:sp>
      <p:sp>
        <p:nvSpPr>
          <p:cNvPr id="8" name="card_286"/>
          <p:cNvSpPr/>
          <p:nvPr/>
        </p:nvSpPr>
        <p:spPr>
          <a:xfrm>
            <a:off x="6217920" y="2203704"/>
            <a:ext cx="542239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_287"/>
          <p:cNvSpPr/>
          <p:nvPr/>
        </p:nvSpPr>
        <p:spPr>
          <a:xfrm>
            <a:off x="6355080" y="2267712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icon_288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404872"/>
            <a:ext cx="274320" cy="274320"/>
          </a:xfrm>
          <a:prstGeom prst="rect">
            <a:avLst/>
          </a:prstGeom>
        </p:spPr>
      </p:pic>
      <p:sp>
        <p:nvSpPr>
          <p:cNvPr id="11" name="text_289"/>
          <p:cNvSpPr txBox="1"/>
          <p:nvPr/>
        </p:nvSpPr>
        <p:spPr>
          <a:xfrm>
            <a:off x="7086600" y="222199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Grid frequency holds at 49.99 Hz, close to the 50 Hz nominal.</a:t>
            </a:r>
            <a:endParaRPr lang="en-US" sz="1400" dirty="0"/>
          </a:p>
        </p:txBody>
      </p:sp>
      <p:sp>
        <p:nvSpPr>
          <p:cNvPr id="12" name="card_290"/>
          <p:cNvSpPr/>
          <p:nvPr/>
        </p:nvSpPr>
        <p:spPr>
          <a:xfrm>
            <a:off x="6217920" y="2990088"/>
            <a:ext cx="542239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bg_291"/>
          <p:cNvSpPr/>
          <p:nvPr/>
        </p:nvSpPr>
        <p:spPr>
          <a:xfrm>
            <a:off x="6355080" y="3054096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con_292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191256"/>
            <a:ext cx="274320" cy="274320"/>
          </a:xfrm>
          <a:prstGeom prst="rect">
            <a:avLst/>
          </a:prstGeom>
        </p:spPr>
      </p:pic>
      <p:sp>
        <p:nvSpPr>
          <p:cNvPr id="15" name="text_293"/>
          <p:cNvSpPr txBox="1"/>
          <p:nvPr/>
        </p:nvSpPr>
        <p:spPr>
          <a:xfrm>
            <a:off x="7086600" y="300837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Mundra UMTPP ranks first for lost capacity in the outage impact view.</a:t>
            </a:r>
            <a:endParaRPr lang="en-US" sz="1400" dirty="0"/>
          </a:p>
        </p:txBody>
      </p:sp>
      <p:sp>
        <p:nvSpPr>
          <p:cNvPr id="16" name="card_294"/>
          <p:cNvSpPr/>
          <p:nvPr/>
        </p:nvSpPr>
        <p:spPr>
          <a:xfrm>
            <a:off x="6217920" y="3776472"/>
            <a:ext cx="542239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bg_295"/>
          <p:cNvSpPr/>
          <p:nvPr/>
        </p:nvSpPr>
        <p:spPr>
          <a:xfrm>
            <a:off x="6355080" y="384048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8" name="icon_296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977640"/>
            <a:ext cx="274320" cy="274320"/>
          </a:xfrm>
          <a:prstGeom prst="rect">
            <a:avLst/>
          </a:prstGeom>
        </p:spPr>
      </p:pic>
      <p:sp>
        <p:nvSpPr>
          <p:cNvPr id="19" name="text_297"/>
          <p:cNvSpPr txBox="1"/>
          <p:nvPr/>
        </p:nvSpPr>
        <p:spPr>
          <a:xfrm>
            <a:off x="7086600" y="379476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Residential customers account for the largest share of paid bills.</a:t>
            </a:r>
            <a:endParaRPr lang="en-US" sz="1400" dirty="0"/>
          </a:p>
        </p:txBody>
      </p:sp>
      <p:sp>
        <p:nvSpPr>
          <p:cNvPr id="20" name="card_298"/>
          <p:cNvSpPr/>
          <p:nvPr/>
        </p:nvSpPr>
        <p:spPr>
          <a:xfrm>
            <a:off x="6217920" y="4562856"/>
            <a:ext cx="542239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bg_299"/>
          <p:cNvSpPr/>
          <p:nvPr/>
        </p:nvSpPr>
        <p:spPr>
          <a:xfrm>
            <a:off x="6355080" y="4626864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2" name="icon_300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764024"/>
            <a:ext cx="274320" cy="274320"/>
          </a:xfrm>
          <a:prstGeom prst="rect">
            <a:avLst/>
          </a:prstGeom>
        </p:spPr>
      </p:pic>
      <p:sp>
        <p:nvSpPr>
          <p:cNvPr id="23" name="text_301"/>
          <p:cNvSpPr txBox="1"/>
          <p:nvPr/>
        </p:nvSpPr>
        <p:spPr>
          <a:xfrm>
            <a:off x="7086600" y="458114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Technical loss stands at 6.08% across the grid.</a:t>
            </a:r>
            <a:endParaRPr lang="en-US" sz="1400" dirty="0"/>
          </a:p>
        </p:txBody>
      </p:sp>
      <p:sp>
        <p:nvSpPr>
          <p:cNvPr id="24" name="card_302"/>
          <p:cNvSpPr/>
          <p:nvPr/>
        </p:nvSpPr>
        <p:spPr>
          <a:xfrm>
            <a:off x="6217920" y="5349240"/>
            <a:ext cx="5422392" cy="676656"/>
          </a:xfrm>
          <a:prstGeom prst="roundRect">
            <a:avLst>
              <a:gd name="adj" fmla="val 162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bg_303"/>
          <p:cNvSpPr/>
          <p:nvPr/>
        </p:nvSpPr>
        <p:spPr>
          <a:xfrm>
            <a:off x="6355080" y="5413248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6" name="icon_304" descr="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5550408"/>
            <a:ext cx="274320" cy="274320"/>
          </a:xfrm>
          <a:prstGeom prst="rect">
            <a:avLst/>
          </a:prstGeom>
        </p:spPr>
      </p:pic>
      <p:sp>
        <p:nvSpPr>
          <p:cNvPr id="27" name="text_305"/>
          <p:cNvSpPr txBox="1"/>
          <p:nvPr/>
        </p:nvSpPr>
        <p:spPr>
          <a:xfrm>
            <a:off x="7086600" y="536752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Odisha has the highest value in the zone metric view, then Delhi and Mumbai.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Business Benefits</a:t>
            </a:r>
            <a:endParaRPr lang="en-US" sz="3600" dirty="0"/>
          </a:p>
        </p:txBody>
      </p:sp>
      <p:sp>
        <p:nvSpPr>
          <p:cNvPr id="3" name="card_306"/>
          <p:cNvSpPr/>
          <p:nvPr/>
        </p:nvSpPr>
        <p:spPr>
          <a:xfrm>
            <a:off x="548640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iconbg_307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con_308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text_309"/>
          <p:cNvSpPr txBox="1"/>
          <p:nvPr/>
        </p:nvSpPr>
        <p:spPr>
          <a:xfrm>
            <a:off x="822960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Faster decisions</a:t>
            </a:r>
            <a:endParaRPr lang="en-US" sz="1800" dirty="0"/>
          </a:p>
        </p:txBody>
      </p:sp>
      <p:sp>
        <p:nvSpPr>
          <p:cNvPr id="7" name="text_310"/>
          <p:cNvSpPr txBox="1"/>
          <p:nvPr/>
        </p:nvSpPr>
        <p:spPr>
          <a:xfrm>
            <a:off x="822960" y="30358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One live view replaces scattered reports</a:t>
            </a:r>
            <a:endParaRPr lang="en-US" sz="1400" dirty="0"/>
          </a:p>
        </p:txBody>
      </p:sp>
      <p:sp>
        <p:nvSpPr>
          <p:cNvPr id="8" name="card_311"/>
          <p:cNvSpPr/>
          <p:nvPr/>
        </p:nvSpPr>
        <p:spPr>
          <a:xfrm>
            <a:off x="4334256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iconbg_312"/>
          <p:cNvSpPr/>
          <p:nvPr/>
        </p:nvSpPr>
        <p:spPr>
          <a:xfrm>
            <a:off x="4608576" y="173736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con_313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1920240"/>
            <a:ext cx="365760" cy="365760"/>
          </a:xfrm>
          <a:prstGeom prst="rect">
            <a:avLst/>
          </a:prstGeom>
        </p:spPr>
      </p:pic>
      <p:sp>
        <p:nvSpPr>
          <p:cNvPr id="11" name="text_314"/>
          <p:cNvSpPr txBox="1"/>
          <p:nvPr/>
        </p:nvSpPr>
        <p:spPr>
          <a:xfrm>
            <a:off x="4608576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Early risk detection</a:t>
            </a:r>
            <a:endParaRPr lang="en-US" sz="1800" dirty="0"/>
          </a:p>
        </p:txBody>
      </p:sp>
      <p:sp>
        <p:nvSpPr>
          <p:cNvPr id="12" name="text_315"/>
          <p:cNvSpPr txBox="1"/>
          <p:nvPr/>
        </p:nvSpPr>
        <p:spPr>
          <a:xfrm>
            <a:off x="4608576" y="30358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Outages, overloads and alerts surface quickly</a:t>
            </a:r>
            <a:endParaRPr lang="en-US" sz="1400" dirty="0"/>
          </a:p>
        </p:txBody>
      </p:sp>
      <p:sp>
        <p:nvSpPr>
          <p:cNvPr id="13" name="card_316"/>
          <p:cNvSpPr/>
          <p:nvPr/>
        </p:nvSpPr>
        <p:spPr>
          <a:xfrm>
            <a:off x="8119872" y="146304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iconbg_317"/>
          <p:cNvSpPr/>
          <p:nvPr/>
        </p:nvSpPr>
        <p:spPr>
          <a:xfrm>
            <a:off x="8394192" y="173736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icon_318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1920240"/>
            <a:ext cx="365760" cy="365760"/>
          </a:xfrm>
          <a:prstGeom prst="rect">
            <a:avLst/>
          </a:prstGeom>
        </p:spPr>
      </p:pic>
      <p:sp>
        <p:nvSpPr>
          <p:cNvPr id="16" name="text_319"/>
          <p:cNvSpPr txBox="1"/>
          <p:nvPr/>
        </p:nvSpPr>
        <p:spPr>
          <a:xfrm>
            <a:off x="8394192" y="2651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Revenue clarity</a:t>
            </a:r>
            <a:endParaRPr lang="en-US" sz="1800" dirty="0"/>
          </a:p>
        </p:txBody>
      </p:sp>
      <p:sp>
        <p:nvSpPr>
          <p:cNvPr id="17" name="text_320"/>
          <p:cNvSpPr txBox="1"/>
          <p:nvPr/>
        </p:nvSpPr>
        <p:spPr>
          <a:xfrm>
            <a:off x="8394192" y="303580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Billing, collections and EV income in one place</a:t>
            </a:r>
            <a:endParaRPr lang="en-US" sz="1400" dirty="0"/>
          </a:p>
        </p:txBody>
      </p:sp>
      <p:sp>
        <p:nvSpPr>
          <p:cNvPr id="18" name="card_321"/>
          <p:cNvSpPr/>
          <p:nvPr/>
        </p:nvSpPr>
        <p:spPr>
          <a:xfrm>
            <a:off x="548640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iconbg_322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0" name="icon_32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21" name="text_324"/>
          <p:cNvSpPr txBox="1"/>
          <p:nvPr/>
        </p:nvSpPr>
        <p:spPr>
          <a:xfrm>
            <a:off x="82296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Cleaner energy tracking</a:t>
            </a:r>
            <a:endParaRPr lang="en-US" sz="1800" dirty="0"/>
          </a:p>
        </p:txBody>
      </p:sp>
      <p:sp>
        <p:nvSpPr>
          <p:cNvPr id="22" name="text_325"/>
          <p:cNvSpPr txBox="1"/>
          <p:nvPr/>
        </p:nvSpPr>
        <p:spPr>
          <a:xfrm>
            <a:off x="822960" y="55046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Generation mix and CO2 monitored together</a:t>
            </a:r>
            <a:endParaRPr lang="en-US" sz="1400" dirty="0"/>
          </a:p>
        </p:txBody>
      </p:sp>
      <p:sp>
        <p:nvSpPr>
          <p:cNvPr id="23" name="card_326"/>
          <p:cNvSpPr/>
          <p:nvPr/>
        </p:nvSpPr>
        <p:spPr>
          <a:xfrm>
            <a:off x="4334256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iconbg_327"/>
          <p:cNvSpPr/>
          <p:nvPr/>
        </p:nvSpPr>
        <p:spPr>
          <a:xfrm>
            <a:off x="4608576" y="420624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5" name="icon_328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6" y="4389120"/>
            <a:ext cx="365760" cy="365760"/>
          </a:xfrm>
          <a:prstGeom prst="rect">
            <a:avLst/>
          </a:prstGeom>
        </p:spPr>
      </p:pic>
      <p:sp>
        <p:nvSpPr>
          <p:cNvPr id="26" name="text_329"/>
          <p:cNvSpPr txBox="1"/>
          <p:nvPr/>
        </p:nvSpPr>
        <p:spPr>
          <a:xfrm>
            <a:off x="4608576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 growth insight</a:t>
            </a:r>
            <a:endParaRPr lang="en-US" sz="1800" dirty="0"/>
          </a:p>
        </p:txBody>
      </p:sp>
      <p:sp>
        <p:nvSpPr>
          <p:cNvPr id="27" name="text_330"/>
          <p:cNvSpPr txBox="1"/>
          <p:nvPr/>
        </p:nvSpPr>
        <p:spPr>
          <a:xfrm>
            <a:off x="4608576" y="55046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Charging sessions and peak hours by zone</a:t>
            </a:r>
            <a:endParaRPr lang="en-US" sz="1400" dirty="0"/>
          </a:p>
        </p:txBody>
      </p:sp>
      <p:sp>
        <p:nvSpPr>
          <p:cNvPr id="28" name="card_331"/>
          <p:cNvSpPr/>
          <p:nvPr/>
        </p:nvSpPr>
        <p:spPr>
          <a:xfrm>
            <a:off x="8119872" y="3931920"/>
            <a:ext cx="352044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iconbg_332"/>
          <p:cNvSpPr/>
          <p:nvPr/>
        </p:nvSpPr>
        <p:spPr>
          <a:xfrm>
            <a:off x="8394192" y="420624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0" name="icon_333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7072" y="4389120"/>
            <a:ext cx="365760" cy="365760"/>
          </a:xfrm>
          <a:prstGeom prst="rect">
            <a:avLst/>
          </a:prstGeom>
        </p:spPr>
      </p:pic>
      <p:sp>
        <p:nvSpPr>
          <p:cNvPr id="31" name="text_334"/>
          <p:cNvSpPr txBox="1"/>
          <p:nvPr/>
        </p:nvSpPr>
        <p:spPr>
          <a:xfrm>
            <a:off x="8394192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 source of truth</a:t>
            </a:r>
            <a:endParaRPr lang="en-US" sz="1800" dirty="0"/>
          </a:p>
        </p:txBody>
      </p:sp>
      <p:sp>
        <p:nvSpPr>
          <p:cNvPr id="32" name="text_335"/>
          <p:cNvSpPr txBox="1"/>
          <p:nvPr/>
        </p:nvSpPr>
        <p:spPr>
          <a:xfrm>
            <a:off x="8394192" y="550468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One MySQL model feeds every page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Conclusion &amp; Future Scope</a:t>
            </a:r>
            <a:endParaRPr lang="en-US" sz="3600" dirty="0"/>
          </a:p>
        </p:txBody>
      </p:sp>
      <p:sp>
        <p:nvSpPr>
          <p:cNvPr id="3" name="card_336"/>
          <p:cNvSpPr/>
          <p:nvPr/>
        </p:nvSpPr>
        <p:spPr>
          <a:xfrm>
            <a:off x="548640" y="1463040"/>
            <a:ext cx="5376672" cy="4572000"/>
          </a:xfrm>
          <a:prstGeom prst="roundRect">
            <a:avLst>
              <a:gd name="adj" fmla="val 24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_337"/>
          <p:cNvSpPr txBox="1"/>
          <p:nvPr/>
        </p:nvSpPr>
        <p:spPr>
          <a:xfrm>
            <a:off x="868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5" name="text_338"/>
          <p:cNvSpPr txBox="1"/>
          <p:nvPr/>
        </p:nvSpPr>
        <p:spPr>
          <a:xfrm>
            <a:off x="868680" y="2331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MySQL and Power BI work together as one 360° control centre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16 tables feed 4 dashboards covering plants, grid, billing, EV and risk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 data and DAX measures give trusted KPIs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model is ready for live DirectQuery refresh</a:t>
            </a:r>
            <a:endParaRPr lang="en-US" sz="1600" dirty="0"/>
          </a:p>
        </p:txBody>
      </p:sp>
      <p:sp>
        <p:nvSpPr>
          <p:cNvPr id="6" name="card_339"/>
          <p:cNvSpPr/>
          <p:nvPr/>
        </p:nvSpPr>
        <p:spPr>
          <a:xfrm>
            <a:off x="6263640" y="1463040"/>
            <a:ext cx="5376672" cy="457200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_340"/>
          <p:cNvSpPr txBox="1"/>
          <p:nvPr/>
        </p:nvSpPr>
        <p:spPr>
          <a:xfrm>
            <a:off x="658368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Future Scope</a:t>
            </a:r>
            <a:endParaRPr lang="en-US" sz="2400" dirty="0"/>
          </a:p>
        </p:txBody>
      </p:sp>
      <p:sp>
        <p:nvSpPr>
          <p:cNvPr id="8" name="text_341"/>
          <p:cNvSpPr txBox="1"/>
          <p:nvPr/>
        </p:nvSpPr>
        <p:spPr>
          <a:xfrm>
            <a:off x="6583680" y="2331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Connect to real-time plant and grid feeds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Predict equipment faults with machine learning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Forecast demand and solar output with AI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Send automatic alerts by email or Teams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Add a mobile view for field teams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1828800"/>
            <a:ext cx="110916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chemeClr val="bg1"/>
                </a:solidFill>
              </a:rPr>
              <a:t>Thank You</a:t>
            </a:r>
            <a:endParaRPr lang="en-US" sz="6400" dirty="0"/>
          </a:p>
        </p:txBody>
      </p:sp>
      <p:sp>
        <p:nvSpPr>
          <p:cNvPr id="3" name="card_342"/>
          <p:cNvSpPr/>
          <p:nvPr/>
        </p:nvSpPr>
        <p:spPr>
          <a:xfrm>
            <a:off x="5577840" y="731520"/>
            <a:ext cx="105156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closing_icon" descr="bol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033272"/>
            <a:ext cx="457200" cy="457200"/>
          </a:xfrm>
          <a:prstGeom prst="rect">
            <a:avLst/>
          </a:prstGeom>
        </p:spPr>
      </p:pic>
      <p:sp>
        <p:nvSpPr>
          <p:cNvPr id="5" name="text_343"/>
          <p:cNvSpPr txBox="1"/>
          <p:nvPr/>
        </p:nvSpPr>
        <p:spPr>
          <a:xfrm>
            <a:off x="548640" y="3200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chemeClr val="accent1"/>
                </a:solidFill>
              </a:rPr>
              <a:t>Questions &amp; Discussion</a:t>
            </a:r>
            <a:endParaRPr lang="en-US" sz="2400" dirty="0"/>
          </a:p>
        </p:txBody>
      </p:sp>
      <p:sp>
        <p:nvSpPr>
          <p:cNvPr id="6" name="text_344"/>
          <p:cNvSpPr txBox="1"/>
          <p:nvPr/>
        </p:nvSpPr>
        <p:spPr>
          <a:xfrm>
            <a:off x="548640" y="49834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</a:rPr>
              <a:t>K LAKSHMI PRIYA</a:t>
            </a:r>
            <a:endParaRPr lang="en-US" sz="2400" dirty="0"/>
          </a:p>
        </p:txBody>
      </p:sp>
      <p:sp>
        <p:nvSpPr>
          <p:cNvPr id="7" name="text_345"/>
          <p:cNvSpPr txBox="1"/>
          <p:nvPr/>
        </p:nvSpPr>
        <p:spPr>
          <a:xfrm>
            <a:off x="548640" y="5532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2"/>
                </a:solidFill>
              </a:rPr>
              <a:t>Data and Business Analytics with AI  ·  Anudip IT Foundation, Pallavaram, Chennai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ergy Teal Gold">
  <a:themeElements>
    <a:clrScheme name="Energy Teal Gold">
      <a:dk1>
        <a:srgbClr val="06292E"/>
      </a:dk1>
      <a:lt1>
        <a:srgbClr val="FFFFFF"/>
      </a:lt1>
      <a:dk2>
        <a:srgbClr val="0B4F57"/>
      </a:dk2>
      <a:lt2>
        <a:srgbClr val="EEF7F5"/>
      </a:lt2>
      <a:accent1>
        <a:srgbClr val="FFC21A"/>
      </a:accent1>
      <a:accent2>
        <a:srgbClr val="2EC4A6"/>
      </a:accent2>
      <a:accent3>
        <a:srgbClr val="0E7C86"/>
      </a:accent3>
      <a:accent4>
        <a:srgbClr val="2E9E5B"/>
      </a:accent4>
      <a:accent5>
        <a:srgbClr val="E4572E"/>
      </a:accent5>
      <a:accent6>
        <a:srgbClr val="3B82F6"/>
      </a:accent6>
      <a:hlink>
        <a:srgbClr val="0E7C86"/>
      </a:hlink>
      <a:folHlink>
        <a:srgbClr val="3B82F6"/>
      </a:folHlink>
    </a:clrScheme>
    <a:fontScheme name="Energy Teal Go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1866</Words>
  <Application>Microsoft Office PowerPoint</Application>
  <PresentationFormat>Widescreen</PresentationFormat>
  <Paragraphs>298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Energy Teal Gold</vt:lpstr>
      <vt:lpstr>Tata Power Smart Energy Control 360°</vt:lpstr>
      <vt:lpstr>Agenda</vt:lpstr>
      <vt:lpstr>Project Overview</vt:lpstr>
      <vt:lpstr>Problem &amp; Objectives</vt:lpstr>
      <vt:lpstr>Challenges &amp; Solutions</vt:lpstr>
      <vt:lpstr>The Analytics Stack</vt:lpstr>
      <vt:lpstr>Data Model: 6 Dimensions, 10 Facts</vt:lpstr>
      <vt:lpstr>SQL: Database &amp; Dimension Table</vt:lpstr>
      <vt:lpstr>Cleaning, Visualization &amp; DAX</vt:lpstr>
      <vt:lpstr>Dashboard 1 · Plant Overview</vt:lpstr>
      <vt:lpstr>Dashboard 2 · Grid &amp; Substations</vt:lpstr>
      <vt:lpstr>Dashboard 3 · Billing &amp; EV Mobility</vt:lpstr>
      <vt:lpstr>Dashboard 4 · Energy Risk 360°</vt:lpstr>
      <vt:lpstr>Key Insights</vt:lpstr>
      <vt:lpstr>Business Benefits</vt:lpstr>
      <vt:lpstr>Conclusion &amp; Future Scope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Tata Power Smart Energy Control 360</dc:title>
  <dc:subject>PptxGenJS Presentation</dc:subject>
  <dc:creator>K Lakshmi Priya</dc:creator>
  <cp:lastModifiedBy>prakash raj</cp:lastModifiedBy>
  <cp:revision>4</cp:revision>
  <dcterms:created xsi:type="dcterms:W3CDTF">2026-10-18T06:35:02Z</dcterms:created>
  <dcterms:modified xsi:type="dcterms:W3CDTF">2026-10-18T06:47:31Z</dcterms:modified>
</cp:coreProperties>
</file>